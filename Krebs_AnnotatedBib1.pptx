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takeaway. This is the paper our project is built on, and it is also the dataset we are using. They set out to find genes linked to bipolar disorder, and what they found instead was the medication. Six genes for the illness, 976 for lithium. Everything else follows from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Bipolar disorder is about as heritable as height. But knowing it is genetic does not tell you what is going wrong in the body. Gene expression is a natural place to look because it sits in between. The problem with the existing literature was that every study said something different, and they were all small — the largest had 62 patients. So this group ran a bigger one, 480 people, and looked in blood because blood is easy to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 people, half patients and half controls, recruited in the Netherlands. After quality control 444 remain. Two design details matter for us. First, every patient had to be euthymic — stable mood — on the day of the blood draw. So a gene signal that only appears during mania or depression could not have been seen. Second, their own Table 1 shows the groups were not comparable to start with: patients were older, smoked more, and had slightly lower RNA quality. That is why the covariate models matter so much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details, here is the whole paper in one view. Four analyses. One, test each gene on its own — the standard approach, 12,344 separate tests. Two, test groups of genes that move together, which can catch a coordinated effect that is too small to see gene by gene. Three, estimate what cell types are in the blood, and ask whether the mixture explains what the first two found. This is the one our project is about. Four, check whether any of these genes are the ones that carry inherited risk. They run in that order and each one reframes the previous. I will take them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RNA-seq analysis, five steps. Filter out genes that barely register. Put everyone on the same scale, because some people were sequenced more deeply than others. Then weight the observations, because a gene at 30 counts bounces around far more than one at 3,000 — that is counting noise, not biology. Then fit one regression per gene. Because lithium is coded zero or one, its coefficient is simply the predicted gap between a user and a non-user who match on everything else. Finally correct for running 12,344 tests, because at a plain 0.05 threshold you would get around 600 hits by luck alone. The next slide is the part that matters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They ran the same pipeline twice. Looking for illness genes, they adjusted for lithium. Looking for lithium genes, they adjusted for diagnosis. Each adjustment sounds sensible alone, but the two variables overlap almost completely, because only patients take lithium. So adjusting for lithium in the illness model strips out part of what makes a patient a patient. We think that is part of why they found only six genes. The reverse is also a problem. Adjusting for diagnosis means the lithium comparison runs on all 444 people, including 204 healthy controls. Those controls could not possibly have taken lithium, so they carry no information about it — they influence the answer only through an assumption. Our fix for both: bipolar I patients only. Everyone shares the diagnosis, so there is nothing left to adjust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co-expression network analysis. Instead of testing genes one at a time, you ask which genes move together. First the covariates are subtracted out, because the method cannot handle them directly. Then you measure how every pair of genes moves together across the 444 people. Raising those correlations to a power is a way of keeping the strong connections and letting the weak ones fade — a correlation of 0.9 survives, one of 0.3 essentially vanishes. Genes that move together become a module. Then each module gets compressed to a single number per person, so instead of testing 2,000 genes you test one column. Why bother: a change too small to see in any single gene can still show up if 2,000 genes all shift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analysis our project rebuilds, so it is worth following carefully. Blood is a mixture of cell types and the mixture differs between people. If lithium changes which cells are present, the bulk gene readings shift even if no individual cell behaves differently. The software compares each person's gene profile against a reference of 22 immune cell types, built from 547 marker genes. It returns a percentage for each type. Flag this: they state plainly that no white blood cell counts were taken, so there is no measured truth to check these estimates against. Then two things. They ask which cell type predicts lithium use, and importantly they do this in patients only — the cleaner design they did not use for the genes. And they add the estimates as covariates and re-run the whole gene analysis to see what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analysis is a sanity check. Your DNA is fixed at birth, so it cannot be changed by getting ill or by taking a pill. So if a gene shows up on both lists — activity changed AND inherited risk — that suggests a causal chain. If it only shows up on the expression list, it is downstream of something. The part worth stealing is the last step. They ran a fake gene list that should have overlapped and a random one that should not, before testing the real ones. That is what turns a null result into a real finding rather than a failure to look hard enough. We need the same structure in our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for the results: here they all are, then one slide each. One, almost nothing tracks the illness. Two, a lot tracks lithium. Three, the network method agrees with both. Four, most of the lithium signal turns out to be the cell mixture rather than the cells behaving differently. Five, none of these genes are the ones carrying inherited risk. Four is where our project lives, and five is the methodological trick we want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genes for illness, 976 for lithium. The six are interesting in that all of them are expressed in brain tissue, which is reassuring, but the differences are very small and there were too few to run any pathway analysis. They also tried using a genetic risk score instead of the yes-or-no diagnosis, and got nothing at all. The 976 lithium genes are individually small too — average change about 15 percent — but there are many of them, they point at calcium signalling and immunity, which matches what lithium is known to do, and they overlap significantly with two completely different lithium studies. The lithium finding is solid.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modules. Five track lithium. None track the illness. The biggest module has 2,092 genes, and 431 of those are among the 976 lithium genes. Why this matters: gene-by-gene testing and network clustering fail in different ways. Both found lithium and neither found illness, and that agreement is what makes the illness null believable rather than just underpowered. Last point is for us: they also checked whether the networks were wired differently between groups, and found no difference at all. Our third arm asks a version of that question, so we are testing against a result that already came back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our project exists because of. Of all 22 cell types, only neutrophils predicted lithium use, and they were higher in users. That fits something known since lithium's early use in psychiatry. And the biggest lithium module turned out to be full of neutrophil marker genes. Then the key experiment: they added the estimated cell mixture into the model and re-ran everything. Lithium genes drop from 976 to 233. Illness genes drop from six to zero. So most of what looked like lithium changing gene behaviour is actually lithium changing which cells are present. Our criticism comes later, but the short version is that counting how many genes survive is not the same as estimating how much of the effect went through the cells. It gives no percentage and no error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overlap at all, for either gene list, against any of the three psychiatric traits. The reason we believe that null is the two control lists. The fake list that should have overlapped came back hugely significant. The random one came back null. So when the real answer was no overlap, they had already shown the test could detect an overlap if one existed. The interpretation is that lithium-associated expression changes are a secondary effect of treatment, not a marker of who gets 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criticising the paper, the authors get there first on several points. They say the study was not designed to measure lithium at all — the lithium finding emerged from a study about diagnosis. They say outright that a lithium-naive design is what the question needs. The third quote is our entire project framing, in their words. Confounder by indication just means the drug is only ever given to people who have the condition, so the two can never be separated. And they had antipsychotic data but it was too patchy to use. Quoting them is stronger than attacking them for something already conceded.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criticisms. One, already covered: the lithium comparison includes 204 controls who carry no information about lithium. Note they DID run the cell-type analysis in patients only, so they clearly thought that design cleaner — they just did not apply it to the genes. Two, the neutrophil result. A stepwise procedure searched across all 22 cell types and reported the winner as if it were a single planned test. The p-value was 0.024, already marginal, and the search makes it worse. That one number is their whole cell-composition result. Three, circularity. The cell mixture is estimated from the gene data using 547 marker genes, 331 of which are inside the 12,344 being tested. Then those fractions get added back as covariates to those same genes. So part of the 976-to-233 drop may be arithmetic rather than biology. Four, they never estimate mediation. Counting surviving genes gives no percentage and no confidence interval. Five, and attribute this clearly: we parsed the deposited data ourselves and found quality control removed 35 controls and one bipolar II patient, and zero bipolar I patients. The paper does not report that breakdown. It means every patient-versus-control comparison in the paper runs against a filtered control group. Our lithium comparison is untouched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answers the matching criticism. Restrict to bipolar I, so the diagnosis problem disappears by design rather than by adjustment. Use cross-validation with a shuffled-label baseline, so we know what chance looks like before claiming anything. Run an actual mediation analysis that produces a percentage with a confidence interval. Correct for the cell mixture being estimated rather than measured — that error always pushes the answer downward, so our raw figure is a floor, not a guess. And drop the marker genes from the outcome so the mixture and the thing it predicts are not built from the same numbers. Close on this: the contribution is rigour rather than discovery, and the authors themselves say the question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2263A"/>
          </a:solidFill>
          <a:ln w="12700">
            <a:solidFill>
              <a:srgbClr val="333333"/>
            </a:solidFill>
            <a:prstDash val="solid"/>
          </a:ln>
        </p:spPr>
      </p:sp>
      <p:sp>
        <p:nvSpPr>
          <p:cNvPr id="3" name="Shape 1"/>
          <p:cNvSpPr/>
          <p:nvPr/>
        </p:nvSpPr>
        <p:spPr>
          <a:xfrm>
            <a:off x="685800" y="1325880"/>
            <a:ext cx="54864" cy="1691640"/>
          </a:xfrm>
          <a:prstGeom prst="rect">
            <a:avLst/>
          </a:prstGeom>
          <a:solidFill>
            <a:srgbClr val="075B85"/>
          </a:solidFill>
          <a:ln w="12700">
            <a:solidFill>
              <a:srgbClr val="333333"/>
            </a:solidFill>
            <a:prstDash val="solid"/>
          </a:ln>
        </p:spPr>
      </p:sp>
      <p:sp>
        <p:nvSpPr>
          <p:cNvPr id="4" name="Text 2"/>
          <p:cNvSpPr txBox="1"/>
          <p:nvPr/>
        </p:nvSpPr>
        <p:spPr>
          <a:xfrm>
            <a:off x="960120" y="1371600"/>
            <a:ext cx="7498080" cy="731520"/>
          </a:xfrm>
          <a:prstGeom prst="rect">
            <a:avLst/>
          </a:prstGeom>
          <a:noFill/>
          <a:ln/>
        </p:spPr>
        <p:txBody>
          <a:bodyPr wrap="square" lIns="0" tIns="0" rIns="0" bIns="0" rtlCol="0" anchor="ctr"/>
          <a:lstStyle/>
          <a:p>
            <a:pPr indent="0" marL="0">
              <a:lnSpc>
                <a:spcPct val="115000"/>
              </a:lnSpc>
              <a:buNone/>
            </a:pPr>
            <a:r>
              <a:rPr lang="en-US" sz="2500" b="1" dirty="0">
                <a:solidFill>
                  <a:srgbClr val="FFFFFF"/>
                </a:solidFill>
                <a:latin typeface="Cambria" pitchFamily="34" charset="0"/>
                <a:ea typeface="Cambria" pitchFamily="34" charset="-122"/>
                <a:cs typeface="Cambria" pitchFamily="34" charset="-120"/>
              </a:rPr>
              <a:t>Whole blood transcriptome analysis in bipolar disorder</a:t>
            </a:r>
            <a:endParaRPr lang="en-US" sz="2500" dirty="0"/>
          </a:p>
          <a:p>
            <a:pPr indent="0" marL="0">
              <a:lnSpc>
                <a:spcPct val="115000"/>
              </a:lnSpc>
              <a:buNone/>
            </a:pPr>
            <a:r>
              <a:rPr lang="en-US" sz="2500" b="1" dirty="0">
                <a:solidFill>
                  <a:srgbClr val="FFFFFF"/>
                </a:solidFill>
                <a:latin typeface="Cambria" pitchFamily="34" charset="0"/>
                <a:ea typeface="Cambria" pitchFamily="34" charset="-122"/>
                <a:cs typeface="Cambria" pitchFamily="34" charset="-120"/>
              </a:rPr>
              <a:t>reveals a strong lithium effect</a:t>
            </a:r>
            <a:endParaRPr lang="en-US" sz="2500" dirty="0"/>
          </a:p>
        </p:txBody>
      </p:sp>
      <p:sp>
        <p:nvSpPr>
          <p:cNvPr id="5" name="Text 3"/>
          <p:cNvSpPr txBox="1"/>
          <p:nvPr/>
        </p:nvSpPr>
        <p:spPr>
          <a:xfrm>
            <a:off x="960120" y="2231136"/>
            <a:ext cx="7498080" cy="237744"/>
          </a:xfrm>
          <a:prstGeom prst="rect">
            <a:avLst/>
          </a:prstGeom>
          <a:noFill/>
          <a:ln/>
        </p:spPr>
        <p:txBody>
          <a:bodyPr wrap="square" lIns="0" tIns="0" rIns="0" bIns="0" rtlCol="0" anchor="ctr"/>
          <a:lstStyle/>
          <a:p>
            <a:pPr indent="0" marL="0">
              <a:buNone/>
            </a:pPr>
            <a:r>
              <a:rPr lang="en-US" sz="1300" dirty="0">
                <a:solidFill>
                  <a:srgbClr val="CFE0EE"/>
                </a:solidFill>
                <a:latin typeface="Calibri" pitchFamily="34" charset="0"/>
                <a:ea typeface="Calibri" pitchFamily="34" charset="-122"/>
                <a:cs typeface="Calibri" pitchFamily="34" charset="-120"/>
              </a:rPr>
              <a:t>Krebs et al., Psychological Medicine, 2020</a:t>
            </a:r>
            <a:endParaRPr lang="en-US" sz="1300" dirty="0"/>
          </a:p>
        </p:txBody>
      </p:sp>
      <p:sp>
        <p:nvSpPr>
          <p:cNvPr id="6" name="Text 4"/>
          <p:cNvSpPr txBox="1"/>
          <p:nvPr/>
        </p:nvSpPr>
        <p:spPr>
          <a:xfrm>
            <a:off x="960120" y="2523744"/>
            <a:ext cx="7498080" cy="237744"/>
          </a:xfrm>
          <a:prstGeom prst="rect">
            <a:avLst/>
          </a:prstGeom>
          <a:noFill/>
          <a:ln/>
        </p:spPr>
        <p:txBody>
          <a:bodyPr wrap="square" lIns="0" tIns="0" rIns="0" bIns="0" rtlCol="0" anchor="ctr"/>
          <a:lstStyle/>
          <a:p>
            <a:pPr indent="0" marL="0">
              <a:buNone/>
            </a:pPr>
            <a:r>
              <a:rPr lang="en-US" sz="1100" dirty="0">
                <a:solidFill>
                  <a:srgbClr val="94A3AD"/>
                </a:solidFill>
                <a:latin typeface="Calibri" pitchFamily="34" charset="0"/>
                <a:ea typeface="Calibri" pitchFamily="34" charset="-122"/>
                <a:cs typeface="Calibri" pitchFamily="34" charset="-120"/>
              </a:rPr>
              <a:t>GEO accession GSE124326  ·  the dataset our project uses</a:t>
            </a:r>
            <a:endParaRPr lang="en-US" sz="1100" dirty="0"/>
          </a:p>
        </p:txBody>
      </p:sp>
      <p:sp>
        <p:nvSpPr>
          <p:cNvPr id="7" name="Shape 5"/>
          <p:cNvSpPr/>
          <p:nvPr/>
        </p:nvSpPr>
        <p:spPr>
          <a:xfrm>
            <a:off x="960120" y="3108960"/>
            <a:ext cx="7223760" cy="566928"/>
          </a:xfrm>
          <a:prstGeom prst="roundRect">
            <a:avLst>
              <a:gd name="adj" fmla="val 6452"/>
            </a:avLst>
          </a:prstGeom>
          <a:solidFill>
            <a:srgbClr val="075B85"/>
          </a:solidFill>
          <a:ln w="9525">
            <a:solidFill>
              <a:srgbClr val="075B85"/>
            </a:solidFill>
            <a:prstDash val="solid"/>
          </a:ln>
        </p:spPr>
      </p:sp>
      <p:sp>
        <p:nvSpPr>
          <p:cNvPr id="8" name="Text 6"/>
          <p:cNvSpPr txBox="1"/>
          <p:nvPr/>
        </p:nvSpPr>
        <p:spPr>
          <a:xfrm>
            <a:off x="960120" y="3108960"/>
            <a:ext cx="722376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976 genes track lithium. Six track the illness.</a:t>
            </a:r>
            <a:endParaRPr lang="en-US" sz="1500" dirty="0"/>
          </a:p>
        </p:txBody>
      </p:sp>
      <p:sp>
        <p:nvSpPr>
          <p:cNvPr id="9" name="Text 7"/>
          <p:cNvSpPr txBox="1"/>
          <p:nvPr/>
        </p:nvSpPr>
        <p:spPr>
          <a:xfrm>
            <a:off x="960120" y="4069080"/>
            <a:ext cx="7498080" cy="219456"/>
          </a:xfrm>
          <a:prstGeom prst="rect">
            <a:avLst/>
          </a:prstGeom>
          <a:noFill/>
          <a:ln/>
        </p:spPr>
        <p:txBody>
          <a:bodyPr wrap="square" lIns="0" tIns="0" rIns="0" bIns="0" rtlCol="0" anchor="ctr"/>
          <a:lstStyle/>
          <a:p>
            <a:pPr indent="0" marL="0">
              <a:buNone/>
            </a:pPr>
            <a:r>
              <a:rPr lang="en-US" sz="1100" dirty="0">
                <a:solidFill>
                  <a:srgbClr val="94A3AD"/>
                </a:solidFill>
                <a:latin typeface="Calibri" pitchFamily="34" charset="0"/>
                <a:ea typeface="Calibri" pitchFamily="34" charset="-122"/>
                <a:cs typeface="Calibri" pitchFamily="34" charset="-120"/>
              </a:rPr>
              <a:t>Ali &amp; Ava  ·  BIOL / MATH 481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Why they did it</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Bipolar disorder runs strongly in families, but nobody knows what it does to the body.</a:t>
            </a:r>
            <a:endParaRPr lang="en-US" sz="1100" dirty="0"/>
          </a:p>
        </p:txBody>
      </p:sp>
      <p:sp>
        <p:nvSpPr>
          <p:cNvPr id="4" name="Shape 2"/>
          <p:cNvSpPr/>
          <p:nvPr/>
        </p:nvSpPr>
        <p:spPr>
          <a:xfrm>
            <a:off x="411480" y="1005840"/>
            <a:ext cx="8321040" cy="694944"/>
          </a:xfrm>
          <a:prstGeom prst="roundRect">
            <a:avLst>
              <a:gd name="adj" fmla="val 5263"/>
            </a:avLst>
          </a:prstGeom>
          <a:solidFill>
            <a:srgbClr val="F2F5F8"/>
          </a:solidFill>
          <a:ln w="9525">
            <a:solidFill>
              <a:srgbClr val="DCE3E9"/>
            </a:solidFill>
            <a:prstDash val="solid"/>
          </a:ln>
        </p:spPr>
      </p:sp>
      <p:sp>
        <p:nvSpPr>
          <p:cNvPr id="5" name="Shape 3"/>
          <p:cNvSpPr/>
          <p:nvPr/>
        </p:nvSpPr>
        <p:spPr>
          <a:xfrm>
            <a:off x="411480" y="1005840"/>
            <a:ext cx="50292" cy="694944"/>
          </a:xfrm>
          <a:prstGeom prst="rect">
            <a:avLst/>
          </a:prstGeom>
          <a:solidFill>
            <a:srgbClr val="075B85"/>
          </a:solidFill>
          <a:ln w="12700">
            <a:solidFill>
              <a:srgbClr val="333333"/>
            </a:solidFill>
            <a:prstDash val="solid"/>
          </a:ln>
        </p:spPr>
      </p:sp>
      <p:sp>
        <p:nvSpPr>
          <p:cNvPr id="6" name="Text 4"/>
          <p:cNvSpPr txBox="1"/>
          <p:nvPr/>
        </p:nvSpPr>
        <p:spPr>
          <a:xfrm>
            <a:off x="658368" y="1051560"/>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Heritability runs as high as 85%, so genetics explain much of the risk</a:t>
            </a:r>
            <a:endParaRPr lang="en-US" sz="1350" dirty="0"/>
          </a:p>
        </p:txBody>
      </p:sp>
      <p:sp>
        <p:nvSpPr>
          <p:cNvPr id="7" name="Shape 5"/>
          <p:cNvSpPr/>
          <p:nvPr/>
        </p:nvSpPr>
        <p:spPr>
          <a:xfrm>
            <a:off x="411480" y="1837944"/>
            <a:ext cx="8321040" cy="694944"/>
          </a:xfrm>
          <a:prstGeom prst="roundRect">
            <a:avLst>
              <a:gd name="adj" fmla="val 5263"/>
            </a:avLst>
          </a:prstGeom>
          <a:solidFill>
            <a:srgbClr val="F2F5F8"/>
          </a:solidFill>
          <a:ln w="9525">
            <a:solidFill>
              <a:srgbClr val="DCE3E9"/>
            </a:solidFill>
            <a:prstDash val="solid"/>
          </a:ln>
        </p:spPr>
      </p:sp>
      <p:sp>
        <p:nvSpPr>
          <p:cNvPr id="8" name="Shape 6"/>
          <p:cNvSpPr/>
          <p:nvPr/>
        </p:nvSpPr>
        <p:spPr>
          <a:xfrm>
            <a:off x="411480" y="1837944"/>
            <a:ext cx="50292" cy="694944"/>
          </a:xfrm>
          <a:prstGeom prst="rect">
            <a:avLst/>
          </a:prstGeom>
          <a:solidFill>
            <a:srgbClr val="075B85"/>
          </a:solidFill>
          <a:ln w="12700">
            <a:solidFill>
              <a:srgbClr val="333333"/>
            </a:solidFill>
            <a:prstDash val="solid"/>
          </a:ln>
        </p:spPr>
      </p:sp>
      <p:sp>
        <p:nvSpPr>
          <p:cNvPr id="9" name="Text 7"/>
          <p:cNvSpPr txBox="1"/>
          <p:nvPr/>
        </p:nvSpPr>
        <p:spPr>
          <a:xfrm>
            <a:off x="658368" y="1883664"/>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Gene expression sits between the genes you inherit and the illness you get</a:t>
            </a:r>
            <a:endParaRPr lang="en-US" sz="1350" dirty="0"/>
          </a:p>
        </p:txBody>
      </p:sp>
      <p:sp>
        <p:nvSpPr>
          <p:cNvPr id="10" name="Shape 8"/>
          <p:cNvSpPr/>
          <p:nvPr/>
        </p:nvSpPr>
        <p:spPr>
          <a:xfrm>
            <a:off x="411480" y="2670048"/>
            <a:ext cx="8321040" cy="694944"/>
          </a:xfrm>
          <a:prstGeom prst="roundRect">
            <a:avLst>
              <a:gd name="adj" fmla="val 5263"/>
            </a:avLst>
          </a:prstGeom>
          <a:solidFill>
            <a:srgbClr val="F2F5F8"/>
          </a:solidFill>
          <a:ln w="9525">
            <a:solidFill>
              <a:srgbClr val="DCE3E9"/>
            </a:solidFill>
            <a:prstDash val="solid"/>
          </a:ln>
        </p:spPr>
      </p:sp>
      <p:sp>
        <p:nvSpPr>
          <p:cNvPr id="11" name="Shape 9"/>
          <p:cNvSpPr/>
          <p:nvPr/>
        </p:nvSpPr>
        <p:spPr>
          <a:xfrm>
            <a:off x="411480" y="2670048"/>
            <a:ext cx="50292" cy="694944"/>
          </a:xfrm>
          <a:prstGeom prst="rect">
            <a:avLst/>
          </a:prstGeom>
          <a:solidFill>
            <a:srgbClr val="075B85"/>
          </a:solidFill>
          <a:ln w="12700">
            <a:solidFill>
              <a:srgbClr val="333333"/>
            </a:solidFill>
            <a:prstDash val="solid"/>
          </a:ln>
        </p:spPr>
      </p:sp>
      <p:sp>
        <p:nvSpPr>
          <p:cNvPr id="12" name="Text 10"/>
          <p:cNvSpPr txBox="1"/>
          <p:nvPr/>
        </p:nvSpPr>
        <p:spPr>
          <a:xfrm>
            <a:off x="658368" y="2715768"/>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Earlier studies disagreed with each other, and none had more than 62 patients</a:t>
            </a:r>
            <a:endParaRPr lang="en-US" sz="1350" dirty="0"/>
          </a:p>
        </p:txBody>
      </p:sp>
      <p:sp>
        <p:nvSpPr>
          <p:cNvPr id="13" name="Shape 11"/>
          <p:cNvSpPr/>
          <p:nvPr/>
        </p:nvSpPr>
        <p:spPr>
          <a:xfrm>
            <a:off x="411480" y="3502152"/>
            <a:ext cx="8321040" cy="694944"/>
          </a:xfrm>
          <a:prstGeom prst="roundRect">
            <a:avLst>
              <a:gd name="adj" fmla="val 5263"/>
            </a:avLst>
          </a:prstGeom>
          <a:solidFill>
            <a:srgbClr val="F2F5F8"/>
          </a:solidFill>
          <a:ln w="9525">
            <a:solidFill>
              <a:srgbClr val="DCE3E9"/>
            </a:solidFill>
            <a:prstDash val="solid"/>
          </a:ln>
        </p:spPr>
      </p:sp>
      <p:sp>
        <p:nvSpPr>
          <p:cNvPr id="14" name="Shape 12"/>
          <p:cNvSpPr/>
          <p:nvPr/>
        </p:nvSpPr>
        <p:spPr>
          <a:xfrm>
            <a:off x="411480" y="3502152"/>
            <a:ext cx="50292" cy="694944"/>
          </a:xfrm>
          <a:prstGeom prst="rect">
            <a:avLst/>
          </a:prstGeom>
          <a:solidFill>
            <a:srgbClr val="075B85"/>
          </a:solidFill>
          <a:ln w="12700">
            <a:solidFill>
              <a:srgbClr val="333333"/>
            </a:solidFill>
            <a:prstDash val="solid"/>
          </a:ln>
        </p:spPr>
      </p:sp>
      <p:sp>
        <p:nvSpPr>
          <p:cNvPr id="15" name="Text 13"/>
          <p:cNvSpPr txBox="1"/>
          <p:nvPr/>
        </p:nvSpPr>
        <p:spPr>
          <a:xfrm>
            <a:off x="658368" y="3547872"/>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So: look in blood for genes that differ between patients and healthy people</a:t>
            </a:r>
            <a:endParaRPr lang="en-US" sz="1350" dirty="0"/>
          </a:p>
        </p:txBody>
      </p:sp>
      <p:sp>
        <p:nvSpPr>
          <p:cNvPr id="16" name="Text 14"/>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They found something else instead, which is why the paper is titled the way it 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The cohort</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480 people from a Dutch case-control study.</a:t>
            </a:r>
            <a:endParaRPr lang="en-US" sz="1100" dirty="0"/>
          </a:p>
        </p:txBody>
      </p:sp>
      <p:sp>
        <p:nvSpPr>
          <p:cNvPr id="4" name="Shape 2"/>
          <p:cNvSpPr/>
          <p:nvPr/>
        </p:nvSpPr>
        <p:spPr>
          <a:xfrm>
            <a:off x="411480" y="932688"/>
            <a:ext cx="1975104" cy="713232"/>
          </a:xfrm>
          <a:prstGeom prst="roundRect">
            <a:avLst>
              <a:gd name="adj" fmla="val 5128"/>
            </a:avLst>
          </a:prstGeom>
          <a:solidFill>
            <a:srgbClr val="075B85"/>
          </a:solidFill>
          <a:ln w="9525">
            <a:solidFill>
              <a:srgbClr val="075B85"/>
            </a:solidFill>
            <a:prstDash val="solid"/>
          </a:ln>
        </p:spPr>
      </p:sp>
      <p:sp>
        <p:nvSpPr>
          <p:cNvPr id="5" name="Text 3"/>
          <p:cNvSpPr txBox="1"/>
          <p:nvPr/>
        </p:nvSpPr>
        <p:spPr>
          <a:xfrm>
            <a:off x="411480" y="978408"/>
            <a:ext cx="1975104"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480</a:t>
            </a:r>
            <a:endParaRPr lang="en-US" sz="1900" dirty="0"/>
          </a:p>
        </p:txBody>
      </p:sp>
      <p:sp>
        <p:nvSpPr>
          <p:cNvPr id="6" name="Text 4"/>
          <p:cNvSpPr txBox="1"/>
          <p:nvPr/>
        </p:nvSpPr>
        <p:spPr>
          <a:xfrm>
            <a:off x="411480" y="1344168"/>
            <a:ext cx="1975104"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sequenced</a:t>
            </a:r>
            <a:endParaRPr lang="en-US" sz="1000" dirty="0"/>
          </a:p>
        </p:txBody>
      </p:sp>
      <p:sp>
        <p:nvSpPr>
          <p:cNvPr id="7" name="Shape 5"/>
          <p:cNvSpPr/>
          <p:nvPr/>
        </p:nvSpPr>
        <p:spPr>
          <a:xfrm>
            <a:off x="2532888" y="932688"/>
            <a:ext cx="1975104" cy="713232"/>
          </a:xfrm>
          <a:prstGeom prst="roundRect">
            <a:avLst>
              <a:gd name="adj" fmla="val 5128"/>
            </a:avLst>
          </a:prstGeom>
          <a:solidFill>
            <a:srgbClr val="075B85"/>
          </a:solidFill>
          <a:ln w="9525">
            <a:solidFill>
              <a:srgbClr val="075B85"/>
            </a:solidFill>
            <a:prstDash val="solid"/>
          </a:ln>
        </p:spPr>
      </p:sp>
      <p:sp>
        <p:nvSpPr>
          <p:cNvPr id="8" name="Text 6"/>
          <p:cNvSpPr txBox="1"/>
          <p:nvPr/>
        </p:nvSpPr>
        <p:spPr>
          <a:xfrm>
            <a:off x="2532888" y="978408"/>
            <a:ext cx="1975104"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36</a:t>
            </a:r>
            <a:endParaRPr lang="en-US" sz="1900" dirty="0"/>
          </a:p>
        </p:txBody>
      </p:sp>
      <p:sp>
        <p:nvSpPr>
          <p:cNvPr id="9" name="Text 7"/>
          <p:cNvSpPr txBox="1"/>
          <p:nvPr/>
        </p:nvSpPr>
        <p:spPr>
          <a:xfrm>
            <a:off x="2532888" y="1344168"/>
            <a:ext cx="1975104"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removed</a:t>
            </a:r>
            <a:endParaRPr lang="en-US" sz="1000" dirty="0"/>
          </a:p>
        </p:txBody>
      </p:sp>
      <p:sp>
        <p:nvSpPr>
          <p:cNvPr id="10" name="Shape 8"/>
          <p:cNvSpPr/>
          <p:nvPr/>
        </p:nvSpPr>
        <p:spPr>
          <a:xfrm>
            <a:off x="4654296" y="932688"/>
            <a:ext cx="1975104" cy="713232"/>
          </a:xfrm>
          <a:prstGeom prst="roundRect">
            <a:avLst>
              <a:gd name="adj" fmla="val 5128"/>
            </a:avLst>
          </a:prstGeom>
          <a:solidFill>
            <a:srgbClr val="075B85"/>
          </a:solidFill>
          <a:ln w="9525">
            <a:solidFill>
              <a:srgbClr val="075B85"/>
            </a:solidFill>
            <a:prstDash val="solid"/>
          </a:ln>
        </p:spPr>
      </p:sp>
      <p:sp>
        <p:nvSpPr>
          <p:cNvPr id="11" name="Text 9"/>
          <p:cNvSpPr txBox="1"/>
          <p:nvPr/>
        </p:nvSpPr>
        <p:spPr>
          <a:xfrm>
            <a:off x="4654296" y="978408"/>
            <a:ext cx="1975104"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444</a:t>
            </a:r>
            <a:endParaRPr lang="en-US" sz="1900" dirty="0"/>
          </a:p>
        </p:txBody>
      </p:sp>
      <p:sp>
        <p:nvSpPr>
          <p:cNvPr id="12" name="Text 10"/>
          <p:cNvSpPr txBox="1"/>
          <p:nvPr/>
        </p:nvSpPr>
        <p:spPr>
          <a:xfrm>
            <a:off x="4654296" y="1344168"/>
            <a:ext cx="1975104"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analysed</a:t>
            </a:r>
            <a:endParaRPr lang="en-US" sz="1000" dirty="0"/>
          </a:p>
        </p:txBody>
      </p:sp>
      <p:sp>
        <p:nvSpPr>
          <p:cNvPr id="13" name="Shape 11"/>
          <p:cNvSpPr/>
          <p:nvPr/>
        </p:nvSpPr>
        <p:spPr>
          <a:xfrm>
            <a:off x="6775704" y="932688"/>
            <a:ext cx="1975104" cy="713232"/>
          </a:xfrm>
          <a:prstGeom prst="roundRect">
            <a:avLst>
              <a:gd name="adj" fmla="val 5128"/>
            </a:avLst>
          </a:prstGeom>
          <a:solidFill>
            <a:srgbClr val="075B85"/>
          </a:solidFill>
          <a:ln w="9525">
            <a:solidFill>
              <a:srgbClr val="075B85"/>
            </a:solidFill>
            <a:prstDash val="solid"/>
          </a:ln>
        </p:spPr>
      </p:sp>
      <p:sp>
        <p:nvSpPr>
          <p:cNvPr id="14" name="Text 12"/>
          <p:cNvSpPr txBox="1"/>
          <p:nvPr/>
        </p:nvSpPr>
        <p:spPr>
          <a:xfrm>
            <a:off x="6775704" y="978408"/>
            <a:ext cx="1975104"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12,344</a:t>
            </a:r>
            <a:endParaRPr lang="en-US" sz="1900" dirty="0"/>
          </a:p>
        </p:txBody>
      </p:sp>
      <p:sp>
        <p:nvSpPr>
          <p:cNvPr id="15" name="Text 13"/>
          <p:cNvSpPr txBox="1"/>
          <p:nvPr/>
        </p:nvSpPr>
        <p:spPr>
          <a:xfrm>
            <a:off x="6775704" y="1344168"/>
            <a:ext cx="1975104"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genes kept</a:t>
            </a:r>
            <a:endParaRPr lang="en-US" sz="1000" dirty="0"/>
          </a:p>
        </p:txBody>
      </p:sp>
      <p:sp>
        <p:nvSpPr>
          <p:cNvPr id="16" name="Shape 14"/>
          <p:cNvSpPr/>
          <p:nvPr/>
        </p:nvSpPr>
        <p:spPr>
          <a:xfrm>
            <a:off x="411480" y="1901952"/>
            <a:ext cx="8321040" cy="713232"/>
          </a:xfrm>
          <a:prstGeom prst="roundRect">
            <a:avLst>
              <a:gd name="adj" fmla="val 5128"/>
            </a:avLst>
          </a:prstGeom>
          <a:solidFill>
            <a:srgbClr val="F2F5F8"/>
          </a:solidFill>
          <a:ln w="9525">
            <a:solidFill>
              <a:srgbClr val="DCE3E9"/>
            </a:solidFill>
            <a:prstDash val="solid"/>
          </a:ln>
        </p:spPr>
      </p:sp>
      <p:sp>
        <p:nvSpPr>
          <p:cNvPr id="17" name="Shape 15"/>
          <p:cNvSpPr/>
          <p:nvPr/>
        </p:nvSpPr>
        <p:spPr>
          <a:xfrm>
            <a:off x="411480" y="1901952"/>
            <a:ext cx="50292" cy="713232"/>
          </a:xfrm>
          <a:prstGeom prst="rect">
            <a:avLst/>
          </a:prstGeom>
          <a:solidFill>
            <a:srgbClr val="075B85"/>
          </a:solidFill>
          <a:ln w="12700">
            <a:solidFill>
              <a:srgbClr val="333333"/>
            </a:solidFill>
            <a:prstDash val="solid"/>
          </a:ln>
        </p:spPr>
      </p:sp>
      <p:sp>
        <p:nvSpPr>
          <p:cNvPr id="18" name="Text 16"/>
          <p:cNvSpPr txBox="1"/>
          <p:nvPr/>
        </p:nvSpPr>
        <p:spPr>
          <a:xfrm>
            <a:off x="658368" y="1947672"/>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240 patients and 204 healthy controls</a:t>
            </a:r>
            <a:endParaRPr lang="en-US" sz="1350" dirty="0"/>
          </a:p>
        </p:txBody>
      </p:sp>
      <p:sp>
        <p:nvSpPr>
          <p:cNvPr id="19" name="Shape 17"/>
          <p:cNvSpPr/>
          <p:nvPr/>
        </p:nvSpPr>
        <p:spPr>
          <a:xfrm>
            <a:off x="411480" y="2752344"/>
            <a:ext cx="8321040" cy="713232"/>
          </a:xfrm>
          <a:prstGeom prst="roundRect">
            <a:avLst>
              <a:gd name="adj" fmla="val 5128"/>
            </a:avLst>
          </a:prstGeom>
          <a:solidFill>
            <a:srgbClr val="F2F5F8"/>
          </a:solidFill>
          <a:ln w="9525">
            <a:solidFill>
              <a:srgbClr val="DCE3E9"/>
            </a:solidFill>
            <a:prstDash val="solid"/>
          </a:ln>
        </p:spPr>
      </p:sp>
      <p:sp>
        <p:nvSpPr>
          <p:cNvPr id="20" name="Shape 18"/>
          <p:cNvSpPr/>
          <p:nvPr/>
        </p:nvSpPr>
        <p:spPr>
          <a:xfrm>
            <a:off x="411480" y="2752344"/>
            <a:ext cx="50292" cy="713232"/>
          </a:xfrm>
          <a:prstGeom prst="rect">
            <a:avLst/>
          </a:prstGeom>
          <a:solidFill>
            <a:srgbClr val="075B85"/>
          </a:solidFill>
          <a:ln w="12700">
            <a:solidFill>
              <a:srgbClr val="333333"/>
            </a:solidFill>
            <a:prstDash val="solid"/>
          </a:ln>
        </p:spPr>
      </p:sp>
      <p:sp>
        <p:nvSpPr>
          <p:cNvPr id="21" name="Text 19"/>
          <p:cNvSpPr txBox="1"/>
          <p:nvPr/>
        </p:nvSpPr>
        <p:spPr>
          <a:xfrm>
            <a:off x="658368" y="2798064"/>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Every patient had to be in a stable mood at the blood draw, so nobody was manic or depressed</a:t>
            </a:r>
            <a:endParaRPr lang="en-US" sz="1350" dirty="0"/>
          </a:p>
        </p:txBody>
      </p:sp>
      <p:sp>
        <p:nvSpPr>
          <p:cNvPr id="22" name="Shape 20"/>
          <p:cNvSpPr/>
          <p:nvPr/>
        </p:nvSpPr>
        <p:spPr>
          <a:xfrm>
            <a:off x="411480" y="3602736"/>
            <a:ext cx="8321040" cy="713232"/>
          </a:xfrm>
          <a:prstGeom prst="roundRect">
            <a:avLst>
              <a:gd name="adj" fmla="val 5128"/>
            </a:avLst>
          </a:prstGeom>
          <a:solidFill>
            <a:srgbClr val="F2F5F8"/>
          </a:solidFill>
          <a:ln w="9525">
            <a:solidFill>
              <a:srgbClr val="DCE3E9"/>
            </a:solidFill>
            <a:prstDash val="solid"/>
          </a:ln>
        </p:spPr>
      </p:sp>
      <p:sp>
        <p:nvSpPr>
          <p:cNvPr id="23" name="Shape 21"/>
          <p:cNvSpPr/>
          <p:nvPr/>
        </p:nvSpPr>
        <p:spPr>
          <a:xfrm>
            <a:off x="411480" y="3602736"/>
            <a:ext cx="50292" cy="713232"/>
          </a:xfrm>
          <a:prstGeom prst="rect">
            <a:avLst/>
          </a:prstGeom>
          <a:solidFill>
            <a:srgbClr val="075B85"/>
          </a:solidFill>
          <a:ln w="12700">
            <a:solidFill>
              <a:srgbClr val="333333"/>
            </a:solidFill>
            <a:prstDash val="solid"/>
          </a:ln>
        </p:spPr>
      </p:sp>
      <p:sp>
        <p:nvSpPr>
          <p:cNvPr id="24" name="Text 22"/>
          <p:cNvSpPr txBox="1"/>
          <p:nvPr/>
        </p:nvSpPr>
        <p:spPr>
          <a:xfrm>
            <a:off x="658368" y="3648456"/>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Patients and controls already differed in age, smoking and RNA quality before any analysis</a:t>
            </a:r>
            <a:endParaRPr lang="en-US" sz="1350" dirty="0"/>
          </a:p>
        </p:txBody>
      </p:sp>
      <p:sp>
        <p:nvSpPr>
          <p:cNvPr id="25" name="Text 23"/>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Removed: 4 for a sample identity mix-up, 32 for missing demographic information.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Four analyses, one dataset</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Everything in the paper is one of these four, and they build on each other in order.</a:t>
            </a:r>
            <a:endParaRPr lang="en-US" sz="1100" dirty="0"/>
          </a:p>
        </p:txBody>
      </p:sp>
      <p:sp>
        <p:nvSpPr>
          <p:cNvPr id="4" name="Shape 2"/>
          <p:cNvSpPr/>
          <p:nvPr/>
        </p:nvSpPr>
        <p:spPr>
          <a:xfrm>
            <a:off x="411480" y="950976"/>
            <a:ext cx="8321040" cy="768096"/>
          </a:xfrm>
          <a:prstGeom prst="roundRect">
            <a:avLst>
              <a:gd name="adj" fmla="val 4762"/>
            </a:avLst>
          </a:prstGeom>
          <a:solidFill>
            <a:srgbClr val="F2F5F8"/>
          </a:solidFill>
          <a:ln w="9525">
            <a:solidFill>
              <a:srgbClr val="DCE3E9"/>
            </a:solidFill>
            <a:prstDash val="solid"/>
          </a:ln>
        </p:spPr>
      </p:sp>
      <p:sp>
        <p:nvSpPr>
          <p:cNvPr id="5" name="Shape 3"/>
          <p:cNvSpPr/>
          <p:nvPr/>
        </p:nvSpPr>
        <p:spPr>
          <a:xfrm>
            <a:off x="603504" y="1188720"/>
            <a:ext cx="310896" cy="310896"/>
          </a:xfrm>
          <a:prstGeom prst="ellipse">
            <a:avLst/>
          </a:prstGeom>
          <a:solidFill>
            <a:srgbClr val="075B85"/>
          </a:solidFill>
          <a:ln w="12700">
            <a:solidFill>
              <a:srgbClr val="333333"/>
            </a:solidFill>
            <a:prstDash val="solid"/>
          </a:ln>
        </p:spPr>
      </p:sp>
      <p:sp>
        <p:nvSpPr>
          <p:cNvPr id="6" name="Text 4"/>
          <p:cNvSpPr txBox="1"/>
          <p:nvPr/>
        </p:nvSpPr>
        <p:spPr>
          <a:xfrm>
            <a:off x="603504" y="11887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78992" y="1060704"/>
            <a:ext cx="3017520" cy="256032"/>
          </a:xfrm>
          <a:prstGeom prst="rect">
            <a:avLst/>
          </a:prstGeom>
          <a:noFill/>
          <a:ln/>
        </p:spPr>
        <p:txBody>
          <a:bodyPr wrap="square" lIns="0" tIns="0" rIns="0" bIns="0" rtlCol="0" anchor="ctr"/>
          <a:lstStyle/>
          <a:p>
            <a:pPr indent="0" marL="0">
              <a:buNone/>
            </a:pPr>
            <a:r>
              <a:rPr lang="en-US" sz="1250" b="1" dirty="0">
                <a:solidFill>
                  <a:srgbClr val="12263A"/>
                </a:solidFill>
                <a:latin typeface="Calibri" pitchFamily="34" charset="0"/>
                <a:ea typeface="Calibri" pitchFamily="34" charset="-122"/>
                <a:cs typeface="Calibri" pitchFamily="34" charset="-120"/>
              </a:rPr>
              <a:t>Differential expression</a:t>
            </a:r>
            <a:endParaRPr lang="en-US" sz="1250" dirty="0"/>
          </a:p>
        </p:txBody>
      </p:sp>
      <p:sp>
        <p:nvSpPr>
          <p:cNvPr id="8" name="Text 6"/>
          <p:cNvSpPr txBox="1"/>
          <p:nvPr/>
        </p:nvSpPr>
        <p:spPr>
          <a:xfrm>
            <a:off x="1078992" y="1353312"/>
            <a:ext cx="3017520" cy="219456"/>
          </a:xfrm>
          <a:prstGeom prst="rect">
            <a:avLst/>
          </a:prstGeom>
          <a:noFill/>
          <a:ln/>
        </p:spPr>
        <p:txBody>
          <a:bodyPr wrap="square" lIns="0" tIns="0" rIns="0" bIns="0" rtlCol="0" anchor="ctr"/>
          <a:lstStyle/>
          <a:p>
            <a:pPr indent="0" marL="0">
              <a:buNone/>
            </a:pPr>
            <a:r>
              <a:rPr lang="en-US" sz="1050" i="1" dirty="0">
                <a:solidFill>
                  <a:srgbClr val="075B85"/>
                </a:solidFill>
                <a:latin typeface="Calibri" pitchFamily="34" charset="0"/>
                <a:ea typeface="Calibri" pitchFamily="34" charset="-122"/>
                <a:cs typeface="Calibri" pitchFamily="34" charset="-120"/>
              </a:rPr>
              <a:t>limma voom</a:t>
            </a:r>
            <a:endParaRPr lang="en-US" sz="1050" dirty="0"/>
          </a:p>
        </p:txBody>
      </p:sp>
      <p:sp>
        <p:nvSpPr>
          <p:cNvPr id="9" name="Text 7"/>
          <p:cNvSpPr txBox="1"/>
          <p:nvPr/>
        </p:nvSpPr>
        <p:spPr>
          <a:xfrm>
            <a:off x="4206240" y="1042416"/>
            <a:ext cx="4389120" cy="58521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Does this one gene differ between the groups? Repeated 12,344 times.</a:t>
            </a:r>
            <a:endParaRPr lang="en-US" sz="1150" dirty="0"/>
          </a:p>
        </p:txBody>
      </p:sp>
      <p:sp>
        <p:nvSpPr>
          <p:cNvPr id="10" name="Shape 8"/>
          <p:cNvSpPr/>
          <p:nvPr/>
        </p:nvSpPr>
        <p:spPr>
          <a:xfrm>
            <a:off x="411480" y="1810512"/>
            <a:ext cx="8321040" cy="768096"/>
          </a:xfrm>
          <a:prstGeom prst="roundRect">
            <a:avLst>
              <a:gd name="adj" fmla="val 4762"/>
            </a:avLst>
          </a:prstGeom>
          <a:solidFill>
            <a:srgbClr val="F2F5F8"/>
          </a:solidFill>
          <a:ln w="9525">
            <a:solidFill>
              <a:srgbClr val="DCE3E9"/>
            </a:solidFill>
            <a:prstDash val="solid"/>
          </a:ln>
        </p:spPr>
      </p:sp>
      <p:sp>
        <p:nvSpPr>
          <p:cNvPr id="11" name="Shape 9"/>
          <p:cNvSpPr/>
          <p:nvPr/>
        </p:nvSpPr>
        <p:spPr>
          <a:xfrm>
            <a:off x="603504" y="2048256"/>
            <a:ext cx="310896" cy="310896"/>
          </a:xfrm>
          <a:prstGeom prst="ellipse">
            <a:avLst/>
          </a:prstGeom>
          <a:solidFill>
            <a:srgbClr val="075B85"/>
          </a:solidFill>
          <a:ln w="12700">
            <a:solidFill>
              <a:srgbClr val="333333"/>
            </a:solidFill>
            <a:prstDash val="solid"/>
          </a:ln>
        </p:spPr>
      </p:sp>
      <p:sp>
        <p:nvSpPr>
          <p:cNvPr id="12" name="Text 10"/>
          <p:cNvSpPr txBox="1"/>
          <p:nvPr/>
        </p:nvSpPr>
        <p:spPr>
          <a:xfrm>
            <a:off x="603504" y="20482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78992" y="1920240"/>
            <a:ext cx="3017520" cy="256032"/>
          </a:xfrm>
          <a:prstGeom prst="rect">
            <a:avLst/>
          </a:prstGeom>
          <a:noFill/>
          <a:ln/>
        </p:spPr>
        <p:txBody>
          <a:bodyPr wrap="square" lIns="0" tIns="0" rIns="0" bIns="0" rtlCol="0" anchor="ctr"/>
          <a:lstStyle/>
          <a:p>
            <a:pPr indent="0" marL="0">
              <a:buNone/>
            </a:pPr>
            <a:r>
              <a:rPr lang="en-US" sz="1250" b="1" dirty="0">
                <a:solidFill>
                  <a:srgbClr val="12263A"/>
                </a:solidFill>
                <a:latin typeface="Calibri" pitchFamily="34" charset="0"/>
                <a:ea typeface="Calibri" pitchFamily="34" charset="-122"/>
                <a:cs typeface="Calibri" pitchFamily="34" charset="-120"/>
              </a:rPr>
              <a:t>Co-expression network analysis</a:t>
            </a:r>
            <a:endParaRPr lang="en-US" sz="1250" dirty="0"/>
          </a:p>
        </p:txBody>
      </p:sp>
      <p:sp>
        <p:nvSpPr>
          <p:cNvPr id="14" name="Text 12"/>
          <p:cNvSpPr txBox="1"/>
          <p:nvPr/>
        </p:nvSpPr>
        <p:spPr>
          <a:xfrm>
            <a:off x="1078992" y="2212848"/>
            <a:ext cx="3017520" cy="219456"/>
          </a:xfrm>
          <a:prstGeom prst="rect">
            <a:avLst/>
          </a:prstGeom>
          <a:noFill/>
          <a:ln/>
        </p:spPr>
        <p:txBody>
          <a:bodyPr wrap="square" lIns="0" tIns="0" rIns="0" bIns="0" rtlCol="0" anchor="ctr"/>
          <a:lstStyle/>
          <a:p>
            <a:pPr indent="0" marL="0">
              <a:buNone/>
            </a:pPr>
            <a:r>
              <a:rPr lang="en-US" sz="1050" i="1" dirty="0">
                <a:solidFill>
                  <a:srgbClr val="075B85"/>
                </a:solidFill>
                <a:latin typeface="Calibri" pitchFamily="34" charset="0"/>
                <a:ea typeface="Calibri" pitchFamily="34" charset="-122"/>
                <a:cs typeface="Calibri" pitchFamily="34" charset="-120"/>
              </a:rPr>
              <a:t>WGCNA</a:t>
            </a:r>
            <a:endParaRPr lang="en-US" sz="1050" dirty="0"/>
          </a:p>
        </p:txBody>
      </p:sp>
      <p:sp>
        <p:nvSpPr>
          <p:cNvPr id="15" name="Text 13"/>
          <p:cNvSpPr txBox="1"/>
          <p:nvPr/>
        </p:nvSpPr>
        <p:spPr>
          <a:xfrm>
            <a:off x="4206240" y="1901952"/>
            <a:ext cx="4389120" cy="58521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Do genes that rise and fall together as a set differ between the groups?</a:t>
            </a:r>
            <a:endParaRPr lang="en-US" sz="1150" dirty="0"/>
          </a:p>
        </p:txBody>
      </p:sp>
      <p:sp>
        <p:nvSpPr>
          <p:cNvPr id="16" name="Shape 14"/>
          <p:cNvSpPr/>
          <p:nvPr/>
        </p:nvSpPr>
        <p:spPr>
          <a:xfrm>
            <a:off x="411480" y="2670048"/>
            <a:ext cx="8321040" cy="768096"/>
          </a:xfrm>
          <a:prstGeom prst="roundRect">
            <a:avLst>
              <a:gd name="adj" fmla="val 4762"/>
            </a:avLst>
          </a:prstGeom>
          <a:solidFill>
            <a:srgbClr val="F2F5F8"/>
          </a:solidFill>
          <a:ln w="9525">
            <a:solidFill>
              <a:srgbClr val="DCE3E9"/>
            </a:solidFill>
            <a:prstDash val="solid"/>
          </a:ln>
        </p:spPr>
      </p:sp>
      <p:sp>
        <p:nvSpPr>
          <p:cNvPr id="17" name="Shape 15"/>
          <p:cNvSpPr/>
          <p:nvPr/>
        </p:nvSpPr>
        <p:spPr>
          <a:xfrm>
            <a:off x="603504" y="2907792"/>
            <a:ext cx="310896" cy="310896"/>
          </a:xfrm>
          <a:prstGeom prst="ellipse">
            <a:avLst/>
          </a:prstGeom>
          <a:solidFill>
            <a:srgbClr val="0F6F6C"/>
          </a:solidFill>
          <a:ln w="12700">
            <a:solidFill>
              <a:srgbClr val="333333"/>
            </a:solidFill>
            <a:prstDash val="solid"/>
          </a:ln>
        </p:spPr>
      </p:sp>
      <p:sp>
        <p:nvSpPr>
          <p:cNvPr id="18" name="Text 16"/>
          <p:cNvSpPr txBox="1"/>
          <p:nvPr/>
        </p:nvSpPr>
        <p:spPr>
          <a:xfrm>
            <a:off x="603504" y="29077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078992" y="2779776"/>
            <a:ext cx="3017520" cy="256032"/>
          </a:xfrm>
          <a:prstGeom prst="rect">
            <a:avLst/>
          </a:prstGeom>
          <a:noFill/>
          <a:ln/>
        </p:spPr>
        <p:txBody>
          <a:bodyPr wrap="square" lIns="0" tIns="0" rIns="0" bIns="0" rtlCol="0" anchor="ctr"/>
          <a:lstStyle/>
          <a:p>
            <a:pPr indent="0" marL="0">
              <a:buNone/>
            </a:pPr>
            <a:r>
              <a:rPr lang="en-US" sz="1250" b="1" dirty="0">
                <a:solidFill>
                  <a:srgbClr val="12263A"/>
                </a:solidFill>
                <a:latin typeface="Calibri" pitchFamily="34" charset="0"/>
                <a:ea typeface="Calibri" pitchFamily="34" charset="-122"/>
                <a:cs typeface="Calibri" pitchFamily="34" charset="-120"/>
              </a:rPr>
              <a:t>Cell type deconvolution</a:t>
            </a:r>
            <a:endParaRPr lang="en-US" sz="1250" dirty="0"/>
          </a:p>
        </p:txBody>
      </p:sp>
      <p:sp>
        <p:nvSpPr>
          <p:cNvPr id="20" name="Text 18"/>
          <p:cNvSpPr txBox="1"/>
          <p:nvPr/>
        </p:nvSpPr>
        <p:spPr>
          <a:xfrm>
            <a:off x="1078992" y="3072384"/>
            <a:ext cx="3017520" cy="219456"/>
          </a:xfrm>
          <a:prstGeom prst="rect">
            <a:avLst/>
          </a:prstGeom>
          <a:noFill/>
          <a:ln/>
        </p:spPr>
        <p:txBody>
          <a:bodyPr wrap="square" lIns="0" tIns="0" rIns="0" bIns="0" rtlCol="0" anchor="ctr"/>
          <a:lstStyle/>
          <a:p>
            <a:pPr indent="0" marL="0">
              <a:buNone/>
            </a:pPr>
            <a:r>
              <a:rPr lang="en-US" sz="1050" i="1" dirty="0">
                <a:solidFill>
                  <a:srgbClr val="0F6F6C"/>
                </a:solidFill>
                <a:latin typeface="Calibri" pitchFamily="34" charset="0"/>
                <a:ea typeface="Calibri" pitchFamily="34" charset="-122"/>
                <a:cs typeface="Calibri" pitchFamily="34" charset="-120"/>
              </a:rPr>
              <a:t>CIBERSORT with LM22</a:t>
            </a:r>
            <a:endParaRPr lang="en-US" sz="1050" dirty="0"/>
          </a:p>
        </p:txBody>
      </p:sp>
      <p:sp>
        <p:nvSpPr>
          <p:cNvPr id="21" name="Text 19"/>
          <p:cNvSpPr txBox="1"/>
          <p:nvPr/>
        </p:nvSpPr>
        <p:spPr>
          <a:xfrm>
            <a:off x="4206240" y="2761488"/>
            <a:ext cx="4389120" cy="58521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Blood is a mix of cell types. Does the mix explain what the first two found?</a:t>
            </a:r>
            <a:endParaRPr lang="en-US" sz="1150" dirty="0"/>
          </a:p>
        </p:txBody>
      </p:sp>
      <p:sp>
        <p:nvSpPr>
          <p:cNvPr id="22" name="Shape 20"/>
          <p:cNvSpPr/>
          <p:nvPr/>
        </p:nvSpPr>
        <p:spPr>
          <a:xfrm>
            <a:off x="411480" y="3529584"/>
            <a:ext cx="8321040" cy="768096"/>
          </a:xfrm>
          <a:prstGeom prst="roundRect">
            <a:avLst>
              <a:gd name="adj" fmla="val 4762"/>
            </a:avLst>
          </a:prstGeom>
          <a:solidFill>
            <a:srgbClr val="F2F5F8"/>
          </a:solidFill>
          <a:ln w="9525">
            <a:solidFill>
              <a:srgbClr val="DCE3E9"/>
            </a:solidFill>
            <a:prstDash val="solid"/>
          </a:ln>
        </p:spPr>
      </p:sp>
      <p:sp>
        <p:nvSpPr>
          <p:cNvPr id="23" name="Shape 21"/>
          <p:cNvSpPr/>
          <p:nvPr/>
        </p:nvSpPr>
        <p:spPr>
          <a:xfrm>
            <a:off x="603504" y="3767328"/>
            <a:ext cx="310896" cy="310896"/>
          </a:xfrm>
          <a:prstGeom prst="ellipse">
            <a:avLst/>
          </a:prstGeom>
          <a:solidFill>
            <a:srgbClr val="4E606D"/>
          </a:solidFill>
          <a:ln w="12700">
            <a:solidFill>
              <a:srgbClr val="333333"/>
            </a:solidFill>
            <a:prstDash val="solid"/>
          </a:ln>
        </p:spPr>
      </p:sp>
      <p:sp>
        <p:nvSpPr>
          <p:cNvPr id="24" name="Text 22"/>
          <p:cNvSpPr txBox="1"/>
          <p:nvPr/>
        </p:nvSpPr>
        <p:spPr>
          <a:xfrm>
            <a:off x="603504" y="37673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1078992" y="3639312"/>
            <a:ext cx="3017520" cy="256032"/>
          </a:xfrm>
          <a:prstGeom prst="rect">
            <a:avLst/>
          </a:prstGeom>
          <a:noFill/>
          <a:ln/>
        </p:spPr>
        <p:txBody>
          <a:bodyPr wrap="square" lIns="0" tIns="0" rIns="0" bIns="0" rtlCol="0" anchor="ctr"/>
          <a:lstStyle/>
          <a:p>
            <a:pPr indent="0" marL="0">
              <a:buNone/>
            </a:pPr>
            <a:r>
              <a:rPr lang="en-US" sz="1250" b="1" dirty="0">
                <a:solidFill>
                  <a:srgbClr val="12263A"/>
                </a:solidFill>
                <a:latin typeface="Calibri" pitchFamily="34" charset="0"/>
                <a:ea typeface="Calibri" pitchFamily="34" charset="-122"/>
                <a:cs typeface="Calibri" pitchFamily="34" charset="-120"/>
              </a:rPr>
              <a:t>Gene-set analysis against GWAS</a:t>
            </a:r>
            <a:endParaRPr lang="en-US" sz="1250" dirty="0"/>
          </a:p>
        </p:txBody>
      </p:sp>
      <p:sp>
        <p:nvSpPr>
          <p:cNvPr id="26" name="Text 24"/>
          <p:cNvSpPr txBox="1"/>
          <p:nvPr/>
        </p:nvSpPr>
        <p:spPr>
          <a:xfrm>
            <a:off x="1078992" y="3931920"/>
            <a:ext cx="3017520" cy="219456"/>
          </a:xfrm>
          <a:prstGeom prst="rect">
            <a:avLst/>
          </a:prstGeom>
          <a:noFill/>
          <a:ln/>
        </p:spPr>
        <p:txBody>
          <a:bodyPr wrap="square" lIns="0" tIns="0" rIns="0" bIns="0" rtlCol="0" anchor="ctr"/>
          <a:lstStyle/>
          <a:p>
            <a:pPr indent="0" marL="0">
              <a:buNone/>
            </a:pPr>
            <a:r>
              <a:rPr lang="en-US" sz="1050" i="1" dirty="0">
                <a:solidFill>
                  <a:srgbClr val="4E606D"/>
                </a:solidFill>
                <a:latin typeface="Calibri" pitchFamily="34" charset="0"/>
                <a:ea typeface="Calibri" pitchFamily="34" charset="-122"/>
                <a:cs typeface="Calibri" pitchFamily="34" charset="-120"/>
              </a:rPr>
              <a:t>MAGMA</a:t>
            </a:r>
            <a:endParaRPr lang="en-US" sz="1050" dirty="0"/>
          </a:p>
        </p:txBody>
      </p:sp>
      <p:sp>
        <p:nvSpPr>
          <p:cNvPr id="27" name="Text 25"/>
          <p:cNvSpPr txBox="1"/>
          <p:nvPr/>
        </p:nvSpPr>
        <p:spPr>
          <a:xfrm>
            <a:off x="4206240" y="3621024"/>
            <a:ext cx="4389120" cy="58521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Are these the same genes that carry inherited DNA risk?</a:t>
            </a:r>
            <a:endParaRPr lang="en-US" sz="1150" dirty="0"/>
          </a:p>
        </p:txBody>
      </p:sp>
      <p:sp>
        <p:nvSpPr>
          <p:cNvPr id="28" name="Text 26"/>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The next five slides take these one at a time. Analysis 3 is the one our project rebuilds.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128016"/>
            <a:ext cx="8321040" cy="310896"/>
          </a:xfrm>
          <a:prstGeom prst="rect">
            <a:avLst/>
          </a:prstGeom>
          <a:noFill/>
          <a:ln/>
        </p:spPr>
        <p:txBody>
          <a:bodyPr wrap="square" lIns="0" tIns="0" rIns="0" bIns="0" rtlCol="0" anchor="ctr"/>
          <a:lstStyle/>
          <a:p>
            <a:pPr indent="0" marL="0">
              <a:buNone/>
            </a:pPr>
            <a:r>
              <a:rPr lang="en-US" sz="1900" b="1" dirty="0">
                <a:solidFill>
                  <a:srgbClr val="12263A"/>
                </a:solidFill>
                <a:latin typeface="Cambria" pitchFamily="34" charset="0"/>
                <a:ea typeface="Cambria" pitchFamily="34" charset="-122"/>
                <a:cs typeface="Cambria" pitchFamily="34" charset="-120"/>
              </a:rPr>
              <a:t>Analysis 1: testing each gene on its own</a:t>
            </a:r>
            <a:endParaRPr lang="en-US" sz="1900" dirty="0"/>
          </a:p>
        </p:txBody>
      </p:sp>
      <p:sp>
        <p:nvSpPr>
          <p:cNvPr id="3" name="Text 1"/>
          <p:cNvSpPr txBox="1"/>
          <p:nvPr/>
        </p:nvSpPr>
        <p:spPr>
          <a:xfrm>
            <a:off x="411480" y="438912"/>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The standard approach, and the one that produced both headline numbers.</a:t>
            </a:r>
            <a:endParaRPr lang="en-US" sz="1100" dirty="0"/>
          </a:p>
        </p:txBody>
      </p:sp>
      <p:sp>
        <p:nvSpPr>
          <p:cNvPr id="4" name="Shape 2"/>
          <p:cNvSpPr/>
          <p:nvPr/>
        </p:nvSpPr>
        <p:spPr>
          <a:xfrm>
            <a:off x="640080" y="768096"/>
            <a:ext cx="7863840" cy="402336"/>
          </a:xfrm>
          <a:prstGeom prst="roundRect">
            <a:avLst>
              <a:gd name="adj" fmla="val 9091"/>
            </a:avLst>
          </a:prstGeom>
          <a:solidFill>
            <a:srgbClr val="E6F2F1"/>
          </a:solidFill>
          <a:ln w="9525">
            <a:solidFill>
              <a:srgbClr val="0F6F6C"/>
            </a:solidFill>
            <a:prstDash val="solid"/>
          </a:ln>
        </p:spPr>
      </p:sp>
      <p:sp>
        <p:nvSpPr>
          <p:cNvPr id="5" name="Text 3"/>
          <p:cNvSpPr txBox="1"/>
          <p:nvPr/>
        </p:nvSpPr>
        <p:spPr>
          <a:xfrm>
            <a:off x="640080" y="768096"/>
            <a:ext cx="7863840" cy="402336"/>
          </a:xfrm>
          <a:prstGeom prst="rect">
            <a:avLst/>
          </a:prstGeom>
          <a:noFill/>
          <a:ln/>
        </p:spPr>
        <p:txBody>
          <a:bodyPr wrap="square" lIns="0" tIns="0" rIns="0" bIns="0" rtlCol="0" anchor="ctr"/>
          <a:lstStyle/>
          <a:p>
            <a:pPr algn="ctr" indent="0" marL="0">
              <a:buNone/>
            </a:pPr>
            <a:r>
              <a:rPr lang="en-US" sz="1300" b="1" dirty="0">
                <a:solidFill>
                  <a:srgbClr val="0F6F6C"/>
                </a:solidFill>
                <a:latin typeface="Calibri" pitchFamily="34" charset="0"/>
                <a:ea typeface="Calibri" pitchFamily="34" charset="-122"/>
                <a:cs typeface="Calibri" pitchFamily="34" charset="-120"/>
              </a:rPr>
              <a:t>The question:  Does this gene sit at a different level in one group than the other?</a:t>
            </a:r>
            <a:endParaRPr lang="en-US" sz="1300" dirty="0"/>
          </a:p>
        </p:txBody>
      </p:sp>
      <p:sp>
        <p:nvSpPr>
          <p:cNvPr id="6" name="Shape 4"/>
          <p:cNvSpPr/>
          <p:nvPr/>
        </p:nvSpPr>
        <p:spPr>
          <a:xfrm>
            <a:off x="822960" y="1316736"/>
            <a:ext cx="7498080" cy="493776"/>
          </a:xfrm>
          <a:prstGeom prst="roundRect">
            <a:avLst>
              <a:gd name="adj" fmla="val 7407"/>
            </a:avLst>
          </a:prstGeom>
          <a:solidFill>
            <a:srgbClr val="F2F5F8"/>
          </a:solidFill>
          <a:ln w="9525">
            <a:solidFill>
              <a:srgbClr val="DCE3E9"/>
            </a:solidFill>
            <a:prstDash val="solid"/>
          </a:ln>
        </p:spPr>
      </p:sp>
      <p:sp>
        <p:nvSpPr>
          <p:cNvPr id="7" name="Text 5"/>
          <p:cNvSpPr txBox="1"/>
          <p:nvPr/>
        </p:nvSpPr>
        <p:spPr>
          <a:xfrm>
            <a:off x="914400" y="1362456"/>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Filter low-count genes</a:t>
            </a:r>
            <a:endParaRPr lang="en-US" sz="1100" dirty="0"/>
          </a:p>
        </p:txBody>
      </p:sp>
      <p:sp>
        <p:nvSpPr>
          <p:cNvPr id="8" name="Text 6"/>
          <p:cNvSpPr txBox="1"/>
          <p:nvPr/>
        </p:nvSpPr>
        <p:spPr>
          <a:xfrm>
            <a:off x="914400" y="1545336"/>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more than 10 counts in 90% of samples, leaving 12,344</a:t>
            </a:r>
            <a:endParaRPr lang="en-US" sz="900" dirty="0"/>
          </a:p>
        </p:txBody>
      </p:sp>
      <p:sp>
        <p:nvSpPr>
          <p:cNvPr id="9" name="Shape 7"/>
          <p:cNvSpPr/>
          <p:nvPr/>
        </p:nvSpPr>
        <p:spPr>
          <a:xfrm>
            <a:off x="4572000" y="1810512"/>
            <a:ext cx="0" cy="109728"/>
          </a:xfrm>
          <a:prstGeom prst="line">
            <a:avLst/>
          </a:prstGeom>
          <a:noFill/>
          <a:ln w="19050">
            <a:solidFill>
              <a:srgbClr val="94A3AD"/>
            </a:solidFill>
            <a:prstDash val="solid"/>
            <a:tailEnd type="triangle"/>
          </a:ln>
        </p:spPr>
      </p:sp>
      <p:sp>
        <p:nvSpPr>
          <p:cNvPr id="10" name="Shape 8"/>
          <p:cNvSpPr/>
          <p:nvPr/>
        </p:nvSpPr>
        <p:spPr>
          <a:xfrm>
            <a:off x="822960" y="1920240"/>
            <a:ext cx="7498080" cy="493776"/>
          </a:xfrm>
          <a:prstGeom prst="roundRect">
            <a:avLst>
              <a:gd name="adj" fmla="val 7407"/>
            </a:avLst>
          </a:prstGeom>
          <a:solidFill>
            <a:srgbClr val="F2F5F8"/>
          </a:solidFill>
          <a:ln w="9525">
            <a:solidFill>
              <a:srgbClr val="DCE3E9"/>
            </a:solidFill>
            <a:prstDash val="solid"/>
          </a:ln>
        </p:spPr>
      </p:sp>
      <p:sp>
        <p:nvSpPr>
          <p:cNvPr id="11" name="Text 9"/>
          <p:cNvSpPr txBox="1"/>
          <p:nvPr/>
        </p:nvSpPr>
        <p:spPr>
          <a:xfrm>
            <a:off x="914400" y="1965960"/>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Normalise to log2 counts per million</a:t>
            </a:r>
            <a:endParaRPr lang="en-US" sz="1100" dirty="0"/>
          </a:p>
        </p:txBody>
      </p:sp>
      <p:sp>
        <p:nvSpPr>
          <p:cNvPr id="12" name="Text 10"/>
          <p:cNvSpPr txBox="1"/>
          <p:nvPr/>
        </p:nvSpPr>
        <p:spPr>
          <a:xfrm>
            <a:off x="914400" y="2148840"/>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divide by each person's own total, scale, then take logs</a:t>
            </a:r>
            <a:endParaRPr lang="en-US" sz="900" dirty="0"/>
          </a:p>
        </p:txBody>
      </p:sp>
      <p:sp>
        <p:nvSpPr>
          <p:cNvPr id="13" name="Shape 11"/>
          <p:cNvSpPr/>
          <p:nvPr/>
        </p:nvSpPr>
        <p:spPr>
          <a:xfrm>
            <a:off x="4572000" y="2414016"/>
            <a:ext cx="0" cy="109728"/>
          </a:xfrm>
          <a:prstGeom prst="line">
            <a:avLst/>
          </a:prstGeom>
          <a:noFill/>
          <a:ln w="19050">
            <a:solidFill>
              <a:srgbClr val="94A3AD"/>
            </a:solidFill>
            <a:prstDash val="solid"/>
            <a:tailEnd type="triangle"/>
          </a:ln>
        </p:spPr>
      </p:sp>
      <p:sp>
        <p:nvSpPr>
          <p:cNvPr id="14" name="Shape 12"/>
          <p:cNvSpPr/>
          <p:nvPr/>
        </p:nvSpPr>
        <p:spPr>
          <a:xfrm>
            <a:off x="822960" y="2523744"/>
            <a:ext cx="7498080" cy="493776"/>
          </a:xfrm>
          <a:prstGeom prst="roundRect">
            <a:avLst>
              <a:gd name="adj" fmla="val 7407"/>
            </a:avLst>
          </a:prstGeom>
          <a:solidFill>
            <a:srgbClr val="F2F5F8"/>
          </a:solidFill>
          <a:ln w="9525">
            <a:solidFill>
              <a:srgbClr val="DCE3E9"/>
            </a:solidFill>
            <a:prstDash val="solid"/>
          </a:ln>
        </p:spPr>
      </p:sp>
      <p:sp>
        <p:nvSpPr>
          <p:cNvPr id="15" name="Text 13"/>
          <p:cNvSpPr txBox="1"/>
          <p:nvPr/>
        </p:nvSpPr>
        <p:spPr>
          <a:xfrm>
            <a:off x="914400" y="2569464"/>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limma voom precision weights</a:t>
            </a:r>
            <a:endParaRPr lang="en-US" sz="1100" dirty="0"/>
          </a:p>
        </p:txBody>
      </p:sp>
      <p:sp>
        <p:nvSpPr>
          <p:cNvPr id="16" name="Text 14"/>
          <p:cNvSpPr txBox="1"/>
          <p:nvPr/>
        </p:nvSpPr>
        <p:spPr>
          <a:xfrm>
            <a:off x="914400" y="2752344"/>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the mean-variance trend is modelled, so noisy observations count less</a:t>
            </a:r>
            <a:endParaRPr lang="en-US" sz="900" dirty="0"/>
          </a:p>
        </p:txBody>
      </p:sp>
      <p:sp>
        <p:nvSpPr>
          <p:cNvPr id="17" name="Shape 15"/>
          <p:cNvSpPr/>
          <p:nvPr/>
        </p:nvSpPr>
        <p:spPr>
          <a:xfrm>
            <a:off x="4572000" y="3017520"/>
            <a:ext cx="0" cy="109728"/>
          </a:xfrm>
          <a:prstGeom prst="line">
            <a:avLst/>
          </a:prstGeom>
          <a:noFill/>
          <a:ln w="19050">
            <a:solidFill>
              <a:srgbClr val="94A3AD"/>
            </a:solidFill>
            <a:prstDash val="solid"/>
            <a:tailEnd type="triangle"/>
          </a:ln>
        </p:spPr>
      </p:sp>
      <p:sp>
        <p:nvSpPr>
          <p:cNvPr id="18" name="Shape 16"/>
          <p:cNvSpPr/>
          <p:nvPr/>
        </p:nvSpPr>
        <p:spPr>
          <a:xfrm>
            <a:off x="822960" y="3127248"/>
            <a:ext cx="7498080" cy="493776"/>
          </a:xfrm>
          <a:prstGeom prst="roundRect">
            <a:avLst>
              <a:gd name="adj" fmla="val 7407"/>
            </a:avLst>
          </a:prstGeom>
          <a:solidFill>
            <a:srgbClr val="F2F5F8"/>
          </a:solidFill>
          <a:ln w="9525">
            <a:solidFill>
              <a:srgbClr val="DCE3E9"/>
            </a:solidFill>
            <a:prstDash val="solid"/>
          </a:ln>
        </p:spPr>
      </p:sp>
      <p:sp>
        <p:nvSpPr>
          <p:cNvPr id="19" name="Text 17"/>
          <p:cNvSpPr txBox="1"/>
          <p:nvPr/>
        </p:nvSpPr>
        <p:spPr>
          <a:xfrm>
            <a:off x="914400" y="3172968"/>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Weighted least squares, one model per gene</a:t>
            </a:r>
            <a:endParaRPr lang="en-US" sz="1100" dirty="0"/>
          </a:p>
        </p:txBody>
      </p:sp>
      <p:sp>
        <p:nvSpPr>
          <p:cNvPr id="20" name="Text 18"/>
          <p:cNvSpPr txBox="1"/>
          <p:nvPr/>
        </p:nvSpPr>
        <p:spPr>
          <a:xfrm>
            <a:off x="914400" y="3355848"/>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gene expression ~ covariates + trait of interest</a:t>
            </a:r>
            <a:endParaRPr lang="en-US" sz="900" dirty="0"/>
          </a:p>
        </p:txBody>
      </p:sp>
      <p:sp>
        <p:nvSpPr>
          <p:cNvPr id="21" name="Shape 19"/>
          <p:cNvSpPr/>
          <p:nvPr/>
        </p:nvSpPr>
        <p:spPr>
          <a:xfrm>
            <a:off x="4572000" y="3621024"/>
            <a:ext cx="0" cy="109728"/>
          </a:xfrm>
          <a:prstGeom prst="line">
            <a:avLst/>
          </a:prstGeom>
          <a:noFill/>
          <a:ln w="19050">
            <a:solidFill>
              <a:srgbClr val="94A3AD"/>
            </a:solidFill>
            <a:prstDash val="solid"/>
            <a:tailEnd type="triangle"/>
          </a:ln>
        </p:spPr>
      </p:sp>
      <p:sp>
        <p:nvSpPr>
          <p:cNvPr id="22" name="Shape 20"/>
          <p:cNvSpPr/>
          <p:nvPr/>
        </p:nvSpPr>
        <p:spPr>
          <a:xfrm>
            <a:off x="822960" y="3730752"/>
            <a:ext cx="7498080" cy="493776"/>
          </a:xfrm>
          <a:prstGeom prst="roundRect">
            <a:avLst>
              <a:gd name="adj" fmla="val 7407"/>
            </a:avLst>
          </a:prstGeom>
          <a:solidFill>
            <a:srgbClr val="F2F5F8"/>
          </a:solidFill>
          <a:ln w="9525">
            <a:solidFill>
              <a:srgbClr val="DCE3E9"/>
            </a:solidFill>
            <a:prstDash val="solid"/>
          </a:ln>
        </p:spPr>
      </p:sp>
      <p:sp>
        <p:nvSpPr>
          <p:cNvPr id="23" name="Text 21"/>
          <p:cNvSpPr txBox="1"/>
          <p:nvPr/>
        </p:nvSpPr>
        <p:spPr>
          <a:xfrm>
            <a:off x="914400" y="3776472"/>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Benjamini-Hochberg false discovery rate</a:t>
            </a:r>
            <a:endParaRPr lang="en-US" sz="1100" dirty="0"/>
          </a:p>
        </p:txBody>
      </p:sp>
      <p:sp>
        <p:nvSpPr>
          <p:cNvPr id="24" name="Text 22"/>
          <p:cNvSpPr txBox="1"/>
          <p:nvPr/>
        </p:nvSpPr>
        <p:spPr>
          <a:xfrm>
            <a:off x="914400" y="3959352"/>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a gene is a DEG if its FDR-corrected p value is below 0.05</a:t>
            </a:r>
            <a:endParaRPr lang="en-US" sz="900" dirty="0"/>
          </a:p>
        </p:txBody>
      </p:sp>
      <p:sp>
        <p:nvSpPr>
          <p:cNvPr id="25" name="Shape 23"/>
          <p:cNvSpPr/>
          <p:nvPr/>
        </p:nvSpPr>
        <p:spPr>
          <a:xfrm>
            <a:off x="640080" y="4425696"/>
            <a:ext cx="7863840" cy="402336"/>
          </a:xfrm>
          <a:prstGeom prst="roundRect">
            <a:avLst>
              <a:gd name="adj" fmla="val 9091"/>
            </a:avLst>
          </a:prstGeom>
          <a:solidFill>
            <a:srgbClr val="12263A"/>
          </a:solidFill>
          <a:ln w="9525">
            <a:solidFill>
              <a:srgbClr val="12263A"/>
            </a:solidFill>
            <a:prstDash val="solid"/>
          </a:ln>
        </p:spPr>
      </p:sp>
      <p:sp>
        <p:nvSpPr>
          <p:cNvPr id="26" name="Text 24"/>
          <p:cNvSpPr txBox="1"/>
          <p:nvPr/>
        </p:nvSpPr>
        <p:spPr>
          <a:xfrm>
            <a:off x="640080" y="4425696"/>
            <a:ext cx="78638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comes out:  a list of differentially expressed genes, or DEGs, at FDR &lt; 0.05</a:t>
            </a:r>
            <a:endParaRPr lang="en-US" sz="1300" dirty="0"/>
          </a:p>
        </p:txBody>
      </p:sp>
      <p:sp>
        <p:nvSpPr>
          <p:cNvPr id="27" name="Text 25"/>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Run twice: once looking for illness genes, once for lithium genes.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Analysis 1, in detail: the two covariate models</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They ran the same pipeline twice, and each run adjusted for the other thing.</a:t>
            </a:r>
            <a:endParaRPr lang="en-US" sz="1100" dirty="0"/>
          </a:p>
        </p:txBody>
      </p:sp>
      <p:sp>
        <p:nvSpPr>
          <p:cNvPr id="4" name="Shape 2"/>
          <p:cNvSpPr/>
          <p:nvPr/>
        </p:nvSpPr>
        <p:spPr>
          <a:xfrm>
            <a:off x="411480" y="914400"/>
            <a:ext cx="4069080" cy="420624"/>
          </a:xfrm>
          <a:prstGeom prst="roundRect">
            <a:avLst>
              <a:gd name="adj" fmla="val 8696"/>
            </a:avLst>
          </a:prstGeom>
          <a:solidFill>
            <a:srgbClr val="075B85"/>
          </a:solidFill>
          <a:ln w="9525">
            <a:solidFill>
              <a:srgbClr val="075B85"/>
            </a:solidFill>
            <a:prstDash val="solid"/>
          </a:ln>
        </p:spPr>
      </p:sp>
      <p:sp>
        <p:nvSpPr>
          <p:cNvPr id="5" name="Text 3"/>
          <p:cNvSpPr txBox="1"/>
          <p:nvPr/>
        </p:nvSpPr>
        <p:spPr>
          <a:xfrm>
            <a:off x="411480" y="914400"/>
            <a:ext cx="40690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Looking for illness genes</a:t>
            </a:r>
            <a:endParaRPr lang="en-US" sz="1400" dirty="0"/>
          </a:p>
        </p:txBody>
      </p:sp>
      <p:sp>
        <p:nvSpPr>
          <p:cNvPr id="6" name="Shape 4"/>
          <p:cNvSpPr/>
          <p:nvPr/>
        </p:nvSpPr>
        <p:spPr>
          <a:xfrm>
            <a:off x="411480" y="1426464"/>
            <a:ext cx="4069080" cy="457200"/>
          </a:xfrm>
          <a:prstGeom prst="roundRect">
            <a:avLst>
              <a:gd name="adj" fmla="val 8000"/>
            </a:avLst>
          </a:prstGeom>
          <a:solidFill>
            <a:srgbClr val="F2F5F8"/>
          </a:solidFill>
          <a:ln w="9525">
            <a:solidFill>
              <a:srgbClr val="DCE3E9"/>
            </a:solidFill>
            <a:prstDash val="solid"/>
          </a:ln>
        </p:spPr>
      </p:sp>
      <p:sp>
        <p:nvSpPr>
          <p:cNvPr id="7" name="Text 5"/>
          <p:cNvSpPr txBox="1"/>
          <p:nvPr/>
        </p:nvSpPr>
        <p:spPr>
          <a:xfrm>
            <a:off x="411480" y="1426464"/>
            <a:ext cx="4069080" cy="457200"/>
          </a:xfrm>
          <a:prstGeom prst="rect">
            <a:avLst/>
          </a:prstGeom>
          <a:noFill/>
          <a:ln/>
        </p:spPr>
        <p:txBody>
          <a:bodyPr wrap="square" lIns="0" tIns="0" rIns="0" bIns="0" rtlCol="0" anchor="ctr"/>
          <a:lstStyle/>
          <a:p>
            <a:pPr algn="ctr" indent="0" marL="0">
              <a:buNone/>
            </a:pPr>
            <a:r>
              <a:rPr lang="en-US" sz="1300" dirty="0">
                <a:solidFill>
                  <a:srgbClr val="12263A"/>
                </a:solidFill>
                <a:latin typeface="Calibri" pitchFamily="34" charset="0"/>
                <a:ea typeface="Calibri" pitchFamily="34" charset="-122"/>
                <a:cs typeface="Calibri" pitchFamily="34" charset="-120"/>
              </a:rPr>
              <a:t>adjusts for LITHIUM</a:t>
            </a:r>
            <a:endParaRPr lang="en-US" sz="1300" dirty="0"/>
          </a:p>
        </p:txBody>
      </p:sp>
      <p:sp>
        <p:nvSpPr>
          <p:cNvPr id="8" name="Shape 6"/>
          <p:cNvSpPr/>
          <p:nvPr/>
        </p:nvSpPr>
        <p:spPr>
          <a:xfrm>
            <a:off x="411480" y="1975104"/>
            <a:ext cx="4069080" cy="548640"/>
          </a:xfrm>
          <a:prstGeom prst="roundRect">
            <a:avLst>
              <a:gd name="adj" fmla="val 6667"/>
            </a:avLst>
          </a:prstGeom>
          <a:solidFill>
            <a:srgbClr val="12263A"/>
          </a:solidFill>
          <a:ln w="9525">
            <a:solidFill>
              <a:srgbClr val="12263A"/>
            </a:solidFill>
            <a:prstDash val="solid"/>
          </a:ln>
        </p:spPr>
      </p:sp>
      <p:sp>
        <p:nvSpPr>
          <p:cNvPr id="9" name="Text 7"/>
          <p:cNvSpPr txBox="1"/>
          <p:nvPr/>
        </p:nvSpPr>
        <p:spPr>
          <a:xfrm>
            <a:off x="411480" y="1975104"/>
            <a:ext cx="40690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 genes</a:t>
            </a:r>
            <a:endParaRPr lang="en-US" sz="2000" dirty="0"/>
          </a:p>
        </p:txBody>
      </p:sp>
      <p:sp>
        <p:nvSpPr>
          <p:cNvPr id="10" name="Shape 8"/>
          <p:cNvSpPr/>
          <p:nvPr/>
        </p:nvSpPr>
        <p:spPr>
          <a:xfrm>
            <a:off x="4663440" y="914400"/>
            <a:ext cx="4069080" cy="420624"/>
          </a:xfrm>
          <a:prstGeom prst="roundRect">
            <a:avLst>
              <a:gd name="adj" fmla="val 8696"/>
            </a:avLst>
          </a:prstGeom>
          <a:solidFill>
            <a:srgbClr val="075B85"/>
          </a:solidFill>
          <a:ln w="9525">
            <a:solidFill>
              <a:srgbClr val="075B85"/>
            </a:solidFill>
            <a:prstDash val="solid"/>
          </a:ln>
        </p:spPr>
      </p:sp>
      <p:sp>
        <p:nvSpPr>
          <p:cNvPr id="11" name="Text 9"/>
          <p:cNvSpPr txBox="1"/>
          <p:nvPr/>
        </p:nvSpPr>
        <p:spPr>
          <a:xfrm>
            <a:off x="4663440" y="914400"/>
            <a:ext cx="406908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Looking for lithium genes</a:t>
            </a:r>
            <a:endParaRPr lang="en-US" sz="1400" dirty="0"/>
          </a:p>
        </p:txBody>
      </p:sp>
      <p:sp>
        <p:nvSpPr>
          <p:cNvPr id="12" name="Shape 10"/>
          <p:cNvSpPr/>
          <p:nvPr/>
        </p:nvSpPr>
        <p:spPr>
          <a:xfrm>
            <a:off x="4663440" y="1426464"/>
            <a:ext cx="4069080" cy="457200"/>
          </a:xfrm>
          <a:prstGeom prst="roundRect">
            <a:avLst>
              <a:gd name="adj" fmla="val 8000"/>
            </a:avLst>
          </a:prstGeom>
          <a:solidFill>
            <a:srgbClr val="F2F5F8"/>
          </a:solidFill>
          <a:ln w="9525">
            <a:solidFill>
              <a:srgbClr val="DCE3E9"/>
            </a:solidFill>
            <a:prstDash val="solid"/>
          </a:ln>
        </p:spPr>
      </p:sp>
      <p:sp>
        <p:nvSpPr>
          <p:cNvPr id="13" name="Text 11"/>
          <p:cNvSpPr txBox="1"/>
          <p:nvPr/>
        </p:nvSpPr>
        <p:spPr>
          <a:xfrm>
            <a:off x="4663440" y="1426464"/>
            <a:ext cx="4069080" cy="457200"/>
          </a:xfrm>
          <a:prstGeom prst="rect">
            <a:avLst/>
          </a:prstGeom>
          <a:noFill/>
          <a:ln/>
        </p:spPr>
        <p:txBody>
          <a:bodyPr wrap="square" lIns="0" tIns="0" rIns="0" bIns="0" rtlCol="0" anchor="ctr"/>
          <a:lstStyle/>
          <a:p>
            <a:pPr algn="ctr" indent="0" marL="0">
              <a:buNone/>
            </a:pPr>
            <a:r>
              <a:rPr lang="en-US" sz="1300" dirty="0">
                <a:solidFill>
                  <a:srgbClr val="12263A"/>
                </a:solidFill>
                <a:latin typeface="Calibri" pitchFamily="34" charset="0"/>
                <a:ea typeface="Calibri" pitchFamily="34" charset="-122"/>
                <a:cs typeface="Calibri" pitchFamily="34" charset="-120"/>
              </a:rPr>
              <a:t>adjusts for DIAGNOSIS</a:t>
            </a:r>
            <a:endParaRPr lang="en-US" sz="1300" dirty="0"/>
          </a:p>
        </p:txBody>
      </p:sp>
      <p:sp>
        <p:nvSpPr>
          <p:cNvPr id="14" name="Shape 12"/>
          <p:cNvSpPr/>
          <p:nvPr/>
        </p:nvSpPr>
        <p:spPr>
          <a:xfrm>
            <a:off x="4663440" y="1975104"/>
            <a:ext cx="4069080" cy="548640"/>
          </a:xfrm>
          <a:prstGeom prst="roundRect">
            <a:avLst>
              <a:gd name="adj" fmla="val 6667"/>
            </a:avLst>
          </a:prstGeom>
          <a:solidFill>
            <a:srgbClr val="12263A"/>
          </a:solidFill>
          <a:ln w="9525">
            <a:solidFill>
              <a:srgbClr val="12263A"/>
            </a:solidFill>
            <a:prstDash val="solid"/>
          </a:ln>
        </p:spPr>
      </p:sp>
      <p:sp>
        <p:nvSpPr>
          <p:cNvPr id="15" name="Text 13"/>
          <p:cNvSpPr txBox="1"/>
          <p:nvPr/>
        </p:nvSpPr>
        <p:spPr>
          <a:xfrm>
            <a:off x="4663440" y="1975104"/>
            <a:ext cx="40690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976 genes</a:t>
            </a:r>
            <a:endParaRPr lang="en-US" sz="2000" dirty="0"/>
          </a:p>
        </p:txBody>
      </p:sp>
      <p:sp>
        <p:nvSpPr>
          <p:cNvPr id="16" name="Shape 14"/>
          <p:cNvSpPr/>
          <p:nvPr/>
        </p:nvSpPr>
        <p:spPr>
          <a:xfrm>
            <a:off x="411480" y="2724912"/>
            <a:ext cx="8321040" cy="658368"/>
          </a:xfrm>
          <a:prstGeom prst="roundRect">
            <a:avLst>
              <a:gd name="adj" fmla="val 5556"/>
            </a:avLst>
          </a:prstGeom>
          <a:solidFill>
            <a:srgbClr val="FBF0DE"/>
          </a:solidFill>
          <a:ln w="9525">
            <a:solidFill>
              <a:srgbClr val="B5701A"/>
            </a:solidFill>
            <a:prstDash val="solid"/>
          </a:ln>
        </p:spPr>
      </p:sp>
      <p:sp>
        <p:nvSpPr>
          <p:cNvPr id="17" name="Text 15"/>
          <p:cNvSpPr txBox="1"/>
          <p:nvPr/>
        </p:nvSpPr>
        <p:spPr>
          <a:xfrm>
            <a:off x="411480" y="2724912"/>
            <a:ext cx="8321040" cy="658368"/>
          </a:xfrm>
          <a:prstGeom prst="rect">
            <a:avLst/>
          </a:prstGeom>
          <a:noFill/>
          <a:ln/>
        </p:spPr>
        <p:txBody>
          <a:bodyPr wrap="square" lIns="0" tIns="0" rIns="0" bIns="0" rtlCol="0" anchor="ctr"/>
          <a:lstStyle/>
          <a:p>
            <a:pPr algn="ctr" indent="0" marL="0">
              <a:buNone/>
            </a:pPr>
            <a:r>
              <a:rPr lang="en-US" sz="1400" b="1" dirty="0">
                <a:solidFill>
                  <a:srgbClr val="B5701A"/>
                </a:solidFill>
                <a:latin typeface="Calibri" pitchFamily="34" charset="0"/>
                <a:ea typeface="Calibri" pitchFamily="34" charset="-122"/>
                <a:cs typeface="Calibri" pitchFamily="34" charset="-120"/>
              </a:rPr>
              <a:t>Only patients take lithium. So removing lithium also removes part of being a patient.</a:t>
            </a:r>
            <a:endParaRPr lang="en-US" sz="1400" dirty="0"/>
          </a:p>
        </p:txBody>
      </p:sp>
      <p:sp>
        <p:nvSpPr>
          <p:cNvPr id="18" name="Shape 16"/>
          <p:cNvSpPr/>
          <p:nvPr/>
        </p:nvSpPr>
        <p:spPr>
          <a:xfrm>
            <a:off x="411480" y="3529584"/>
            <a:ext cx="8321040" cy="658368"/>
          </a:xfrm>
          <a:prstGeom prst="roundRect">
            <a:avLst>
              <a:gd name="adj" fmla="val 5556"/>
            </a:avLst>
          </a:prstGeom>
          <a:solidFill>
            <a:srgbClr val="F2F5F8"/>
          </a:solidFill>
          <a:ln w="9525">
            <a:solidFill>
              <a:srgbClr val="DCE3E9"/>
            </a:solidFill>
            <a:prstDash val="solid"/>
          </a:ln>
        </p:spPr>
      </p:sp>
      <p:sp>
        <p:nvSpPr>
          <p:cNvPr id="19" name="Text 17"/>
          <p:cNvSpPr txBox="1"/>
          <p:nvPr/>
        </p:nvSpPr>
        <p:spPr>
          <a:xfrm>
            <a:off x="411480" y="3529584"/>
            <a:ext cx="8321040" cy="658368"/>
          </a:xfrm>
          <a:prstGeom prst="rect">
            <a:avLst/>
          </a:prstGeom>
          <a:noFill/>
          <a:ln/>
        </p:spPr>
        <p:txBody>
          <a:bodyPr wrap="square" lIns="0" tIns="0" rIns="0" bIns="0" rtlCol="0" anchor="ctr"/>
          <a:lstStyle/>
          <a:p>
            <a:pPr algn="ctr" indent="0" marL="0">
              <a:buNone/>
            </a:pPr>
            <a:r>
              <a:rPr lang="en-US" sz="1400" dirty="0">
                <a:solidFill>
                  <a:srgbClr val="12263A"/>
                </a:solidFill>
                <a:latin typeface="Calibri" pitchFamily="34" charset="0"/>
                <a:ea typeface="Calibri" pitchFamily="34" charset="-122"/>
                <a:cs typeface="Calibri" pitchFamily="34" charset="-120"/>
              </a:rPr>
              <a:t>And the lithium run includes 204 controls who could not have taken it at all.</a:t>
            </a:r>
            <a:endParaRPr lang="en-US" sz="1400" dirty="0"/>
          </a:p>
        </p:txBody>
      </p:sp>
      <p:sp>
        <p:nvSpPr>
          <p:cNvPr id="20" name="Text 18"/>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Our project comes out of this slide. We use bipolar I patients only, so neither adjustment is needed.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128016"/>
            <a:ext cx="8321040" cy="310896"/>
          </a:xfrm>
          <a:prstGeom prst="rect">
            <a:avLst/>
          </a:prstGeom>
          <a:noFill/>
          <a:ln/>
        </p:spPr>
        <p:txBody>
          <a:bodyPr wrap="square" lIns="0" tIns="0" rIns="0" bIns="0" rtlCol="0" anchor="ctr"/>
          <a:lstStyle/>
          <a:p>
            <a:pPr indent="0" marL="0">
              <a:buNone/>
            </a:pPr>
            <a:r>
              <a:rPr lang="en-US" sz="1900" b="1" dirty="0">
                <a:solidFill>
                  <a:srgbClr val="12263A"/>
                </a:solidFill>
                <a:latin typeface="Cambria" pitchFamily="34" charset="0"/>
                <a:ea typeface="Cambria" pitchFamily="34" charset="-122"/>
                <a:cs typeface="Cambria" pitchFamily="34" charset="-120"/>
              </a:rPr>
              <a:t>Analysis 2: testing groups of genes together</a:t>
            </a:r>
            <a:endParaRPr lang="en-US" sz="1900" dirty="0"/>
          </a:p>
        </p:txBody>
      </p:sp>
      <p:sp>
        <p:nvSpPr>
          <p:cNvPr id="3" name="Text 1"/>
          <p:cNvSpPr txBox="1"/>
          <p:nvPr/>
        </p:nvSpPr>
        <p:spPr>
          <a:xfrm>
            <a:off x="411480" y="438912"/>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A second method with different blind spots, asking a different question of the same data.</a:t>
            </a:r>
            <a:endParaRPr lang="en-US" sz="1100" dirty="0"/>
          </a:p>
        </p:txBody>
      </p:sp>
      <p:sp>
        <p:nvSpPr>
          <p:cNvPr id="4" name="Shape 2"/>
          <p:cNvSpPr/>
          <p:nvPr/>
        </p:nvSpPr>
        <p:spPr>
          <a:xfrm>
            <a:off x="640080" y="768096"/>
            <a:ext cx="7863840" cy="402336"/>
          </a:xfrm>
          <a:prstGeom prst="roundRect">
            <a:avLst>
              <a:gd name="adj" fmla="val 9091"/>
            </a:avLst>
          </a:prstGeom>
          <a:solidFill>
            <a:srgbClr val="E6F2F1"/>
          </a:solidFill>
          <a:ln w="9525">
            <a:solidFill>
              <a:srgbClr val="0F6F6C"/>
            </a:solidFill>
            <a:prstDash val="solid"/>
          </a:ln>
        </p:spPr>
      </p:sp>
      <p:sp>
        <p:nvSpPr>
          <p:cNvPr id="5" name="Text 3"/>
          <p:cNvSpPr txBox="1"/>
          <p:nvPr/>
        </p:nvSpPr>
        <p:spPr>
          <a:xfrm>
            <a:off x="640080" y="768096"/>
            <a:ext cx="7863840" cy="402336"/>
          </a:xfrm>
          <a:prstGeom prst="rect">
            <a:avLst/>
          </a:prstGeom>
          <a:noFill/>
          <a:ln/>
        </p:spPr>
        <p:txBody>
          <a:bodyPr wrap="square" lIns="0" tIns="0" rIns="0" bIns="0" rtlCol="0" anchor="ctr"/>
          <a:lstStyle/>
          <a:p>
            <a:pPr algn="ctr" indent="0" marL="0">
              <a:buNone/>
            </a:pPr>
            <a:r>
              <a:rPr lang="en-US" sz="1300" b="1" dirty="0">
                <a:solidFill>
                  <a:srgbClr val="0F6F6C"/>
                </a:solidFill>
                <a:latin typeface="Calibri" pitchFamily="34" charset="0"/>
                <a:ea typeface="Calibri" pitchFamily="34" charset="-122"/>
                <a:cs typeface="Calibri" pitchFamily="34" charset="-120"/>
              </a:rPr>
              <a:t>The question:  Do genes that rise and fall together as a set differ between the groups?</a:t>
            </a:r>
            <a:endParaRPr lang="en-US" sz="1300" dirty="0"/>
          </a:p>
        </p:txBody>
      </p:sp>
      <p:sp>
        <p:nvSpPr>
          <p:cNvPr id="6" name="Shape 4"/>
          <p:cNvSpPr/>
          <p:nvPr/>
        </p:nvSpPr>
        <p:spPr>
          <a:xfrm>
            <a:off x="822960" y="1316736"/>
            <a:ext cx="7498080" cy="493776"/>
          </a:xfrm>
          <a:prstGeom prst="roundRect">
            <a:avLst>
              <a:gd name="adj" fmla="val 7407"/>
            </a:avLst>
          </a:prstGeom>
          <a:solidFill>
            <a:srgbClr val="F2F5F8"/>
          </a:solidFill>
          <a:ln w="9525">
            <a:solidFill>
              <a:srgbClr val="DCE3E9"/>
            </a:solidFill>
            <a:prstDash val="solid"/>
          </a:ln>
        </p:spPr>
      </p:sp>
      <p:sp>
        <p:nvSpPr>
          <p:cNvPr id="7" name="Text 5"/>
          <p:cNvSpPr txBox="1"/>
          <p:nvPr/>
        </p:nvSpPr>
        <p:spPr>
          <a:xfrm>
            <a:off x="914400" y="1362456"/>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Residualise the 12,344 genes for covariates</a:t>
            </a:r>
            <a:endParaRPr lang="en-US" sz="1100" dirty="0"/>
          </a:p>
        </p:txBody>
      </p:sp>
      <p:sp>
        <p:nvSpPr>
          <p:cNvPr id="8" name="Text 6"/>
          <p:cNvSpPr txBox="1"/>
          <p:nvPr/>
        </p:nvSpPr>
        <p:spPr>
          <a:xfrm>
            <a:off x="914400" y="1545336"/>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WGCNA cannot take covariates, so they are removed beforehand</a:t>
            </a:r>
            <a:endParaRPr lang="en-US" sz="900" dirty="0"/>
          </a:p>
        </p:txBody>
      </p:sp>
      <p:sp>
        <p:nvSpPr>
          <p:cNvPr id="9" name="Shape 7"/>
          <p:cNvSpPr/>
          <p:nvPr/>
        </p:nvSpPr>
        <p:spPr>
          <a:xfrm>
            <a:off x="4572000" y="1810512"/>
            <a:ext cx="0" cy="109728"/>
          </a:xfrm>
          <a:prstGeom prst="line">
            <a:avLst/>
          </a:prstGeom>
          <a:noFill/>
          <a:ln w="19050">
            <a:solidFill>
              <a:srgbClr val="94A3AD"/>
            </a:solidFill>
            <a:prstDash val="solid"/>
            <a:tailEnd type="triangle"/>
          </a:ln>
        </p:spPr>
      </p:sp>
      <p:sp>
        <p:nvSpPr>
          <p:cNvPr id="10" name="Shape 8"/>
          <p:cNvSpPr/>
          <p:nvPr/>
        </p:nvSpPr>
        <p:spPr>
          <a:xfrm>
            <a:off x="822960" y="1920240"/>
            <a:ext cx="7498080" cy="493776"/>
          </a:xfrm>
          <a:prstGeom prst="roundRect">
            <a:avLst>
              <a:gd name="adj" fmla="val 7407"/>
            </a:avLst>
          </a:prstGeom>
          <a:solidFill>
            <a:srgbClr val="F2F5F8"/>
          </a:solidFill>
          <a:ln w="9525">
            <a:solidFill>
              <a:srgbClr val="DCE3E9"/>
            </a:solidFill>
            <a:prstDash val="solid"/>
          </a:ln>
        </p:spPr>
      </p:sp>
      <p:sp>
        <p:nvSpPr>
          <p:cNvPr id="11" name="Text 9"/>
          <p:cNvSpPr txBox="1"/>
          <p:nvPr/>
        </p:nvSpPr>
        <p:spPr>
          <a:xfrm>
            <a:off x="914400" y="1965960"/>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Build a weighted network from pairwise correlations</a:t>
            </a:r>
            <a:endParaRPr lang="en-US" sz="1100" dirty="0"/>
          </a:p>
        </p:txBody>
      </p:sp>
      <p:sp>
        <p:nvSpPr>
          <p:cNvPr id="12" name="Text 10"/>
          <p:cNvSpPr txBox="1"/>
          <p:nvPr/>
        </p:nvSpPr>
        <p:spPr>
          <a:xfrm>
            <a:off x="914400" y="2148840"/>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genes are nodes, correlations between them are edges</a:t>
            </a:r>
            <a:endParaRPr lang="en-US" sz="900" dirty="0"/>
          </a:p>
        </p:txBody>
      </p:sp>
      <p:sp>
        <p:nvSpPr>
          <p:cNvPr id="13" name="Shape 11"/>
          <p:cNvSpPr/>
          <p:nvPr/>
        </p:nvSpPr>
        <p:spPr>
          <a:xfrm>
            <a:off x="4572000" y="2414016"/>
            <a:ext cx="0" cy="109728"/>
          </a:xfrm>
          <a:prstGeom prst="line">
            <a:avLst/>
          </a:prstGeom>
          <a:noFill/>
          <a:ln w="19050">
            <a:solidFill>
              <a:srgbClr val="94A3AD"/>
            </a:solidFill>
            <a:prstDash val="solid"/>
            <a:tailEnd type="triangle"/>
          </a:ln>
        </p:spPr>
      </p:sp>
      <p:sp>
        <p:nvSpPr>
          <p:cNvPr id="14" name="Shape 12"/>
          <p:cNvSpPr/>
          <p:nvPr/>
        </p:nvSpPr>
        <p:spPr>
          <a:xfrm>
            <a:off x="822960" y="2523744"/>
            <a:ext cx="7498080" cy="493776"/>
          </a:xfrm>
          <a:prstGeom prst="roundRect">
            <a:avLst>
              <a:gd name="adj" fmla="val 7407"/>
            </a:avLst>
          </a:prstGeom>
          <a:solidFill>
            <a:srgbClr val="F2F5F8"/>
          </a:solidFill>
          <a:ln w="9525">
            <a:solidFill>
              <a:srgbClr val="DCE3E9"/>
            </a:solidFill>
            <a:prstDash val="solid"/>
          </a:ln>
        </p:spPr>
      </p:sp>
      <p:sp>
        <p:nvSpPr>
          <p:cNvPr id="15" name="Text 13"/>
          <p:cNvSpPr txBox="1"/>
          <p:nvPr/>
        </p:nvSpPr>
        <p:spPr>
          <a:xfrm>
            <a:off x="914400" y="2569464"/>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Apply soft thresholding at β = 7</a:t>
            </a:r>
            <a:endParaRPr lang="en-US" sz="1100" dirty="0"/>
          </a:p>
        </p:txBody>
      </p:sp>
      <p:sp>
        <p:nvSpPr>
          <p:cNvPr id="16" name="Text 14"/>
          <p:cNvSpPr txBox="1"/>
          <p:nvPr/>
        </p:nvSpPr>
        <p:spPr>
          <a:xfrm>
            <a:off x="914400" y="2752344"/>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chosen by the scale-free topology criterion; weak edges fade away</a:t>
            </a:r>
            <a:endParaRPr lang="en-US" sz="900" dirty="0"/>
          </a:p>
        </p:txBody>
      </p:sp>
      <p:sp>
        <p:nvSpPr>
          <p:cNvPr id="17" name="Shape 15"/>
          <p:cNvSpPr/>
          <p:nvPr/>
        </p:nvSpPr>
        <p:spPr>
          <a:xfrm>
            <a:off x="4572000" y="3017520"/>
            <a:ext cx="0" cy="109728"/>
          </a:xfrm>
          <a:prstGeom prst="line">
            <a:avLst/>
          </a:prstGeom>
          <a:noFill/>
          <a:ln w="19050">
            <a:solidFill>
              <a:srgbClr val="94A3AD"/>
            </a:solidFill>
            <a:prstDash val="solid"/>
            <a:tailEnd type="triangle"/>
          </a:ln>
        </p:spPr>
      </p:sp>
      <p:sp>
        <p:nvSpPr>
          <p:cNvPr id="18" name="Shape 16"/>
          <p:cNvSpPr/>
          <p:nvPr/>
        </p:nvSpPr>
        <p:spPr>
          <a:xfrm>
            <a:off x="822960" y="3127248"/>
            <a:ext cx="7498080" cy="493776"/>
          </a:xfrm>
          <a:prstGeom prst="roundRect">
            <a:avLst>
              <a:gd name="adj" fmla="val 7407"/>
            </a:avLst>
          </a:prstGeom>
          <a:solidFill>
            <a:srgbClr val="F2F5F8"/>
          </a:solidFill>
          <a:ln w="9525">
            <a:solidFill>
              <a:srgbClr val="DCE3E9"/>
            </a:solidFill>
            <a:prstDash val="solid"/>
          </a:ln>
        </p:spPr>
      </p:sp>
      <p:sp>
        <p:nvSpPr>
          <p:cNvPr id="19" name="Text 17"/>
          <p:cNvSpPr txBox="1"/>
          <p:nvPr/>
        </p:nvSpPr>
        <p:spPr>
          <a:xfrm>
            <a:off x="914400" y="3172968"/>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Cluster into modules</a:t>
            </a:r>
            <a:endParaRPr lang="en-US" sz="1100" dirty="0"/>
          </a:p>
        </p:txBody>
      </p:sp>
      <p:sp>
        <p:nvSpPr>
          <p:cNvPr id="20" name="Text 18"/>
          <p:cNvSpPr txBox="1"/>
          <p:nvPr/>
        </p:nvSpPr>
        <p:spPr>
          <a:xfrm>
            <a:off x="914400" y="3355848"/>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27 modules, from 48 to 2,760 genes each</a:t>
            </a:r>
            <a:endParaRPr lang="en-US" sz="900" dirty="0"/>
          </a:p>
        </p:txBody>
      </p:sp>
      <p:sp>
        <p:nvSpPr>
          <p:cNvPr id="21" name="Shape 19"/>
          <p:cNvSpPr/>
          <p:nvPr/>
        </p:nvSpPr>
        <p:spPr>
          <a:xfrm>
            <a:off x="4572000" y="3621024"/>
            <a:ext cx="0" cy="109728"/>
          </a:xfrm>
          <a:prstGeom prst="line">
            <a:avLst/>
          </a:prstGeom>
          <a:noFill/>
          <a:ln w="19050">
            <a:solidFill>
              <a:srgbClr val="94A3AD"/>
            </a:solidFill>
            <a:prstDash val="solid"/>
            <a:tailEnd type="triangle"/>
          </a:ln>
        </p:spPr>
      </p:sp>
      <p:sp>
        <p:nvSpPr>
          <p:cNvPr id="22" name="Shape 20"/>
          <p:cNvSpPr/>
          <p:nvPr/>
        </p:nvSpPr>
        <p:spPr>
          <a:xfrm>
            <a:off x="822960" y="3730752"/>
            <a:ext cx="7498080" cy="493776"/>
          </a:xfrm>
          <a:prstGeom prst="roundRect">
            <a:avLst>
              <a:gd name="adj" fmla="val 7407"/>
            </a:avLst>
          </a:prstGeom>
          <a:solidFill>
            <a:srgbClr val="F2F5F8"/>
          </a:solidFill>
          <a:ln w="9525">
            <a:solidFill>
              <a:srgbClr val="DCE3E9"/>
            </a:solidFill>
            <a:prstDash val="solid"/>
          </a:ln>
        </p:spPr>
      </p:sp>
      <p:sp>
        <p:nvSpPr>
          <p:cNvPr id="23" name="Text 21"/>
          <p:cNvSpPr txBox="1"/>
          <p:nvPr/>
        </p:nvSpPr>
        <p:spPr>
          <a:xfrm>
            <a:off x="914400" y="3776472"/>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Take each module eigengene</a:t>
            </a:r>
            <a:endParaRPr lang="en-US" sz="1100" dirty="0"/>
          </a:p>
        </p:txBody>
      </p:sp>
      <p:sp>
        <p:nvSpPr>
          <p:cNvPr id="24" name="Text 22"/>
          <p:cNvSpPr txBox="1"/>
          <p:nvPr/>
        </p:nvSpPr>
        <p:spPr>
          <a:xfrm>
            <a:off x="914400" y="3959352"/>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the first principal component, giving one value per person per module</a:t>
            </a:r>
            <a:endParaRPr lang="en-US" sz="900" dirty="0"/>
          </a:p>
        </p:txBody>
      </p:sp>
      <p:sp>
        <p:nvSpPr>
          <p:cNvPr id="25" name="Shape 23"/>
          <p:cNvSpPr/>
          <p:nvPr/>
        </p:nvSpPr>
        <p:spPr>
          <a:xfrm>
            <a:off x="640080" y="4425696"/>
            <a:ext cx="7863840" cy="402336"/>
          </a:xfrm>
          <a:prstGeom prst="roundRect">
            <a:avLst>
              <a:gd name="adj" fmla="val 9091"/>
            </a:avLst>
          </a:prstGeom>
          <a:solidFill>
            <a:srgbClr val="12263A"/>
          </a:solidFill>
          <a:ln w="9525">
            <a:solidFill>
              <a:srgbClr val="12263A"/>
            </a:solidFill>
            <a:prstDash val="solid"/>
          </a:ln>
        </p:spPr>
      </p:sp>
      <p:sp>
        <p:nvSpPr>
          <p:cNvPr id="26" name="Text 24"/>
          <p:cNvSpPr txBox="1"/>
          <p:nvPr/>
        </p:nvSpPr>
        <p:spPr>
          <a:xfrm>
            <a:off x="640080" y="4425696"/>
            <a:ext cx="78638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comes out:  module eigengenes and module membership values, both testable against a trait</a:t>
            </a:r>
            <a:endParaRPr lang="en-US" sz="1300" dirty="0"/>
          </a:p>
        </p:txBody>
      </p:sp>
      <p:sp>
        <p:nvSpPr>
          <p:cNvPr id="27" name="Text 25"/>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Every gene also gets a module membership value for every module, and a gene significance value for each trait.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128016"/>
            <a:ext cx="8321040" cy="310896"/>
          </a:xfrm>
          <a:prstGeom prst="rect">
            <a:avLst/>
          </a:prstGeom>
          <a:noFill/>
          <a:ln/>
        </p:spPr>
        <p:txBody>
          <a:bodyPr wrap="square" lIns="0" tIns="0" rIns="0" bIns="0" rtlCol="0" anchor="ctr"/>
          <a:lstStyle/>
          <a:p>
            <a:pPr indent="0" marL="0">
              <a:buNone/>
            </a:pPr>
            <a:r>
              <a:rPr lang="en-US" sz="1900" b="1" dirty="0">
                <a:solidFill>
                  <a:srgbClr val="12263A"/>
                </a:solidFill>
                <a:latin typeface="Cambria" pitchFamily="34" charset="0"/>
                <a:ea typeface="Cambria" pitchFamily="34" charset="-122"/>
                <a:cs typeface="Cambria" pitchFamily="34" charset="-120"/>
              </a:rPr>
              <a:t>Analysis 3: estimating the cell mixture</a:t>
            </a:r>
            <a:endParaRPr lang="en-US" sz="1900" dirty="0"/>
          </a:p>
        </p:txBody>
      </p:sp>
      <p:sp>
        <p:nvSpPr>
          <p:cNvPr id="3" name="Text 1"/>
          <p:cNvSpPr txBox="1"/>
          <p:nvPr/>
        </p:nvSpPr>
        <p:spPr>
          <a:xfrm>
            <a:off x="411480" y="438912"/>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The analysis our project rebuilds.</a:t>
            </a:r>
            <a:endParaRPr lang="en-US" sz="1100" dirty="0"/>
          </a:p>
        </p:txBody>
      </p:sp>
      <p:sp>
        <p:nvSpPr>
          <p:cNvPr id="4" name="Shape 2"/>
          <p:cNvSpPr/>
          <p:nvPr/>
        </p:nvSpPr>
        <p:spPr>
          <a:xfrm>
            <a:off x="640080" y="768096"/>
            <a:ext cx="7863840" cy="402336"/>
          </a:xfrm>
          <a:prstGeom prst="roundRect">
            <a:avLst>
              <a:gd name="adj" fmla="val 9091"/>
            </a:avLst>
          </a:prstGeom>
          <a:solidFill>
            <a:srgbClr val="E6F2F1"/>
          </a:solidFill>
          <a:ln w="9525">
            <a:solidFill>
              <a:srgbClr val="0F6F6C"/>
            </a:solidFill>
            <a:prstDash val="solid"/>
          </a:ln>
        </p:spPr>
      </p:sp>
      <p:sp>
        <p:nvSpPr>
          <p:cNvPr id="5" name="Text 3"/>
          <p:cNvSpPr txBox="1"/>
          <p:nvPr/>
        </p:nvSpPr>
        <p:spPr>
          <a:xfrm>
            <a:off x="640080" y="768096"/>
            <a:ext cx="7863840" cy="402336"/>
          </a:xfrm>
          <a:prstGeom prst="rect">
            <a:avLst/>
          </a:prstGeom>
          <a:noFill/>
          <a:ln/>
        </p:spPr>
        <p:txBody>
          <a:bodyPr wrap="square" lIns="0" tIns="0" rIns="0" bIns="0" rtlCol="0" anchor="ctr"/>
          <a:lstStyle/>
          <a:p>
            <a:pPr algn="ctr" indent="0" marL="0">
              <a:buNone/>
            </a:pPr>
            <a:r>
              <a:rPr lang="en-US" sz="1300" b="1" dirty="0">
                <a:solidFill>
                  <a:srgbClr val="0F6F6C"/>
                </a:solidFill>
                <a:latin typeface="Calibri" pitchFamily="34" charset="0"/>
                <a:ea typeface="Calibri" pitchFamily="34" charset="-122"/>
                <a:cs typeface="Calibri" pitchFamily="34" charset="-120"/>
              </a:rPr>
              <a:t>The question:  Is the signal about how cells behave, or about which cells are in the tube?</a:t>
            </a:r>
            <a:endParaRPr lang="en-US" sz="1300" dirty="0"/>
          </a:p>
        </p:txBody>
      </p:sp>
      <p:sp>
        <p:nvSpPr>
          <p:cNvPr id="6" name="Shape 4"/>
          <p:cNvSpPr/>
          <p:nvPr/>
        </p:nvSpPr>
        <p:spPr>
          <a:xfrm>
            <a:off x="822960" y="1316736"/>
            <a:ext cx="7498080" cy="493776"/>
          </a:xfrm>
          <a:prstGeom prst="roundRect">
            <a:avLst>
              <a:gd name="adj" fmla="val 7407"/>
            </a:avLst>
          </a:prstGeom>
          <a:solidFill>
            <a:srgbClr val="F2F5F8"/>
          </a:solidFill>
          <a:ln w="9525">
            <a:solidFill>
              <a:srgbClr val="DCE3E9"/>
            </a:solidFill>
            <a:prstDash val="solid"/>
          </a:ln>
        </p:spPr>
      </p:sp>
      <p:sp>
        <p:nvSpPr>
          <p:cNvPr id="7" name="Text 5"/>
          <p:cNvSpPr txBox="1"/>
          <p:nvPr/>
        </p:nvSpPr>
        <p:spPr>
          <a:xfrm>
            <a:off x="914400" y="1362456"/>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Convert raw counts to transcripts per million</a:t>
            </a:r>
            <a:endParaRPr lang="en-US" sz="1100" dirty="0"/>
          </a:p>
        </p:txBody>
      </p:sp>
      <p:sp>
        <p:nvSpPr>
          <p:cNvPr id="8" name="Text 6"/>
          <p:cNvSpPr txBox="1"/>
          <p:nvPr/>
        </p:nvSpPr>
        <p:spPr>
          <a:xfrm>
            <a:off x="914400" y="1545336"/>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TPM, because the reference expects a length-corrected scale</a:t>
            </a:r>
            <a:endParaRPr lang="en-US" sz="900" dirty="0"/>
          </a:p>
        </p:txBody>
      </p:sp>
      <p:sp>
        <p:nvSpPr>
          <p:cNvPr id="9" name="Shape 7"/>
          <p:cNvSpPr/>
          <p:nvPr/>
        </p:nvSpPr>
        <p:spPr>
          <a:xfrm>
            <a:off x="4572000" y="1810512"/>
            <a:ext cx="0" cy="109728"/>
          </a:xfrm>
          <a:prstGeom prst="line">
            <a:avLst/>
          </a:prstGeom>
          <a:noFill/>
          <a:ln w="19050">
            <a:solidFill>
              <a:srgbClr val="94A3AD"/>
            </a:solidFill>
            <a:prstDash val="solid"/>
            <a:tailEnd type="triangle"/>
          </a:ln>
        </p:spPr>
      </p:sp>
      <p:sp>
        <p:nvSpPr>
          <p:cNvPr id="10" name="Shape 8"/>
          <p:cNvSpPr/>
          <p:nvPr/>
        </p:nvSpPr>
        <p:spPr>
          <a:xfrm>
            <a:off x="822960" y="1920240"/>
            <a:ext cx="7498080" cy="493776"/>
          </a:xfrm>
          <a:prstGeom prst="roundRect">
            <a:avLst>
              <a:gd name="adj" fmla="val 7407"/>
            </a:avLst>
          </a:prstGeom>
          <a:solidFill>
            <a:srgbClr val="F2F5F8"/>
          </a:solidFill>
          <a:ln w="9525">
            <a:solidFill>
              <a:srgbClr val="DCE3E9"/>
            </a:solidFill>
            <a:prstDash val="solid"/>
          </a:ln>
        </p:spPr>
      </p:sp>
      <p:sp>
        <p:nvSpPr>
          <p:cNvPr id="11" name="Text 9"/>
          <p:cNvSpPr txBox="1"/>
          <p:nvPr/>
        </p:nvSpPr>
        <p:spPr>
          <a:xfrm>
            <a:off x="914400" y="1965960"/>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Run CIBERSORT against the LM22 signature matrix</a:t>
            </a:r>
            <a:endParaRPr lang="en-US" sz="1100" dirty="0"/>
          </a:p>
        </p:txBody>
      </p:sp>
      <p:sp>
        <p:nvSpPr>
          <p:cNvPr id="12" name="Text 10"/>
          <p:cNvSpPr txBox="1"/>
          <p:nvPr/>
        </p:nvSpPr>
        <p:spPr>
          <a:xfrm>
            <a:off x="914400" y="2148840"/>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547 marker genes discriminating 22 hematopoietic cell types</a:t>
            </a:r>
            <a:endParaRPr lang="en-US" sz="900" dirty="0"/>
          </a:p>
        </p:txBody>
      </p:sp>
      <p:sp>
        <p:nvSpPr>
          <p:cNvPr id="13" name="Shape 11"/>
          <p:cNvSpPr/>
          <p:nvPr/>
        </p:nvSpPr>
        <p:spPr>
          <a:xfrm>
            <a:off x="4572000" y="2414016"/>
            <a:ext cx="0" cy="109728"/>
          </a:xfrm>
          <a:prstGeom prst="line">
            <a:avLst/>
          </a:prstGeom>
          <a:noFill/>
          <a:ln w="19050">
            <a:solidFill>
              <a:srgbClr val="94A3AD"/>
            </a:solidFill>
            <a:prstDash val="solid"/>
            <a:tailEnd type="triangle"/>
          </a:ln>
        </p:spPr>
      </p:sp>
      <p:sp>
        <p:nvSpPr>
          <p:cNvPr id="14" name="Shape 12"/>
          <p:cNvSpPr/>
          <p:nvPr/>
        </p:nvSpPr>
        <p:spPr>
          <a:xfrm>
            <a:off x="822960" y="2523744"/>
            <a:ext cx="7498080" cy="493776"/>
          </a:xfrm>
          <a:prstGeom prst="roundRect">
            <a:avLst>
              <a:gd name="adj" fmla="val 7407"/>
            </a:avLst>
          </a:prstGeom>
          <a:solidFill>
            <a:srgbClr val="F2F5F8"/>
          </a:solidFill>
          <a:ln w="9525">
            <a:solidFill>
              <a:srgbClr val="DCE3E9"/>
            </a:solidFill>
            <a:prstDash val="solid"/>
          </a:ln>
        </p:spPr>
      </p:sp>
      <p:sp>
        <p:nvSpPr>
          <p:cNvPr id="15" name="Text 13"/>
          <p:cNvSpPr txBox="1"/>
          <p:nvPr/>
        </p:nvSpPr>
        <p:spPr>
          <a:xfrm>
            <a:off x="914400" y="2569464"/>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100 permutations, quantile normalisation disabled</a:t>
            </a:r>
            <a:endParaRPr lang="en-US" sz="1100" dirty="0"/>
          </a:p>
        </p:txBody>
      </p:sp>
      <p:sp>
        <p:nvSpPr>
          <p:cNvPr id="16" name="Text 14"/>
          <p:cNvSpPr txBox="1"/>
          <p:nvPr/>
        </p:nvSpPr>
        <p:spPr>
          <a:xfrm>
            <a:off x="914400" y="2752344"/>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disabling it is what the authors recommend for RNA-seq</a:t>
            </a:r>
            <a:endParaRPr lang="en-US" sz="900" dirty="0"/>
          </a:p>
        </p:txBody>
      </p:sp>
      <p:sp>
        <p:nvSpPr>
          <p:cNvPr id="17" name="Shape 15"/>
          <p:cNvSpPr/>
          <p:nvPr/>
        </p:nvSpPr>
        <p:spPr>
          <a:xfrm>
            <a:off x="4572000" y="3017520"/>
            <a:ext cx="0" cy="109728"/>
          </a:xfrm>
          <a:prstGeom prst="line">
            <a:avLst/>
          </a:prstGeom>
          <a:noFill/>
          <a:ln w="19050">
            <a:solidFill>
              <a:srgbClr val="94A3AD"/>
            </a:solidFill>
            <a:prstDash val="solid"/>
            <a:tailEnd type="triangle"/>
          </a:ln>
        </p:spPr>
      </p:sp>
      <p:sp>
        <p:nvSpPr>
          <p:cNvPr id="18" name="Shape 16"/>
          <p:cNvSpPr/>
          <p:nvPr/>
        </p:nvSpPr>
        <p:spPr>
          <a:xfrm>
            <a:off x="822960" y="3127248"/>
            <a:ext cx="7498080" cy="493776"/>
          </a:xfrm>
          <a:prstGeom prst="roundRect">
            <a:avLst>
              <a:gd name="adj" fmla="val 7407"/>
            </a:avLst>
          </a:prstGeom>
          <a:solidFill>
            <a:srgbClr val="F2F5F8"/>
          </a:solidFill>
          <a:ln w="9525">
            <a:solidFill>
              <a:srgbClr val="DCE3E9"/>
            </a:solidFill>
            <a:prstDash val="solid"/>
          </a:ln>
        </p:spPr>
      </p:sp>
      <p:sp>
        <p:nvSpPr>
          <p:cNvPr id="19" name="Text 17"/>
          <p:cNvSpPr txBox="1"/>
          <p:nvPr/>
        </p:nvSpPr>
        <p:spPr>
          <a:xfrm>
            <a:off x="914400" y="3172968"/>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Residualise the fractions, then stepwise regression</a:t>
            </a:r>
            <a:endParaRPr lang="en-US" sz="1100" dirty="0"/>
          </a:p>
        </p:txBody>
      </p:sp>
      <p:sp>
        <p:nvSpPr>
          <p:cNvPr id="20" name="Text 18"/>
          <p:cNvSpPr txBox="1"/>
          <p:nvPr/>
        </p:nvSpPr>
        <p:spPr>
          <a:xfrm>
            <a:off x="914400" y="3355848"/>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stepAIC, asking which cell type predicts lithium use, in cases only</a:t>
            </a:r>
            <a:endParaRPr lang="en-US" sz="900" dirty="0"/>
          </a:p>
        </p:txBody>
      </p:sp>
      <p:sp>
        <p:nvSpPr>
          <p:cNvPr id="21" name="Shape 19"/>
          <p:cNvSpPr/>
          <p:nvPr/>
        </p:nvSpPr>
        <p:spPr>
          <a:xfrm>
            <a:off x="4572000" y="3621024"/>
            <a:ext cx="0" cy="109728"/>
          </a:xfrm>
          <a:prstGeom prst="line">
            <a:avLst/>
          </a:prstGeom>
          <a:noFill/>
          <a:ln w="19050">
            <a:solidFill>
              <a:srgbClr val="94A3AD"/>
            </a:solidFill>
            <a:prstDash val="solid"/>
            <a:tailEnd type="triangle"/>
          </a:ln>
        </p:spPr>
      </p:sp>
      <p:sp>
        <p:nvSpPr>
          <p:cNvPr id="22" name="Shape 20"/>
          <p:cNvSpPr/>
          <p:nvPr/>
        </p:nvSpPr>
        <p:spPr>
          <a:xfrm>
            <a:off x="822960" y="3730752"/>
            <a:ext cx="7498080" cy="493776"/>
          </a:xfrm>
          <a:prstGeom prst="roundRect">
            <a:avLst>
              <a:gd name="adj" fmla="val 7407"/>
            </a:avLst>
          </a:prstGeom>
          <a:solidFill>
            <a:srgbClr val="F2F5F8"/>
          </a:solidFill>
          <a:ln w="9525">
            <a:solidFill>
              <a:srgbClr val="DCE3E9"/>
            </a:solidFill>
            <a:prstDash val="solid"/>
          </a:ln>
        </p:spPr>
      </p:sp>
      <p:sp>
        <p:nvSpPr>
          <p:cNvPr id="23" name="Text 21"/>
          <p:cNvSpPr txBox="1"/>
          <p:nvPr/>
        </p:nvSpPr>
        <p:spPr>
          <a:xfrm>
            <a:off x="914400" y="3776472"/>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Add the fractions as covariates and re-run analysis 1</a:t>
            </a:r>
            <a:endParaRPr lang="en-US" sz="1100" dirty="0"/>
          </a:p>
        </p:txBody>
      </p:sp>
      <p:sp>
        <p:nvSpPr>
          <p:cNvPr id="24" name="Text 22"/>
          <p:cNvSpPr txBox="1"/>
          <p:nvPr/>
        </p:nvSpPr>
        <p:spPr>
          <a:xfrm>
            <a:off x="914400" y="3959352"/>
            <a:ext cx="7315200" cy="219456"/>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to see how many DEGs survive</a:t>
            </a:r>
            <a:endParaRPr lang="en-US" sz="900" dirty="0"/>
          </a:p>
        </p:txBody>
      </p:sp>
      <p:sp>
        <p:nvSpPr>
          <p:cNvPr id="25" name="Shape 23"/>
          <p:cNvSpPr/>
          <p:nvPr/>
        </p:nvSpPr>
        <p:spPr>
          <a:xfrm>
            <a:off x="640080" y="4425696"/>
            <a:ext cx="7863840" cy="402336"/>
          </a:xfrm>
          <a:prstGeom prst="roundRect">
            <a:avLst>
              <a:gd name="adj" fmla="val 9091"/>
            </a:avLst>
          </a:prstGeom>
          <a:solidFill>
            <a:srgbClr val="12263A"/>
          </a:solidFill>
          <a:ln w="9525">
            <a:solidFill>
              <a:srgbClr val="12263A"/>
            </a:solidFill>
            <a:prstDash val="solid"/>
          </a:ln>
        </p:spPr>
      </p:sp>
      <p:sp>
        <p:nvSpPr>
          <p:cNvPr id="26" name="Text 24"/>
          <p:cNvSpPr txBox="1"/>
          <p:nvPr/>
        </p:nvSpPr>
        <p:spPr>
          <a:xfrm>
            <a:off x="640080" y="4425696"/>
            <a:ext cx="78638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comes out:  22 cell type fractions per person, and a composition-adjusted version of the DEG lists</a:t>
            </a:r>
            <a:endParaRPr lang="en-US" sz="1300" dirty="0"/>
          </a:p>
        </p:txBody>
      </p:sp>
      <p:sp>
        <p:nvSpPr>
          <p:cNvPr id="27" name="Text 25"/>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Note they ran this one in patients only, which is the design they did not use for the genes.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128016"/>
            <a:ext cx="8321040" cy="310896"/>
          </a:xfrm>
          <a:prstGeom prst="rect">
            <a:avLst/>
          </a:prstGeom>
          <a:noFill/>
          <a:ln/>
        </p:spPr>
        <p:txBody>
          <a:bodyPr wrap="square" lIns="0" tIns="0" rIns="0" bIns="0" rtlCol="0" anchor="ctr"/>
          <a:lstStyle/>
          <a:p>
            <a:pPr indent="0" marL="0">
              <a:buNone/>
            </a:pPr>
            <a:r>
              <a:rPr lang="en-US" sz="1900" b="1" dirty="0">
                <a:solidFill>
                  <a:srgbClr val="12263A"/>
                </a:solidFill>
                <a:latin typeface="Cambria" pitchFamily="34" charset="0"/>
                <a:ea typeface="Cambria" pitchFamily="34" charset="-122"/>
                <a:cs typeface="Cambria" pitchFamily="34" charset="-120"/>
              </a:rPr>
              <a:t>Analysis 4: comparing against inherited risk</a:t>
            </a:r>
            <a:endParaRPr lang="en-US" sz="1900" dirty="0"/>
          </a:p>
        </p:txBody>
      </p:sp>
      <p:sp>
        <p:nvSpPr>
          <p:cNvPr id="3" name="Text 1"/>
          <p:cNvSpPr txBox="1"/>
          <p:nvPr/>
        </p:nvSpPr>
        <p:spPr>
          <a:xfrm>
            <a:off x="411480" y="438912"/>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A sanity check on what the gene lists actually mean.</a:t>
            </a:r>
            <a:endParaRPr lang="en-US" sz="1100" dirty="0"/>
          </a:p>
        </p:txBody>
      </p:sp>
      <p:sp>
        <p:nvSpPr>
          <p:cNvPr id="4" name="Shape 2"/>
          <p:cNvSpPr/>
          <p:nvPr/>
        </p:nvSpPr>
        <p:spPr>
          <a:xfrm>
            <a:off x="640080" y="768096"/>
            <a:ext cx="7863840" cy="402336"/>
          </a:xfrm>
          <a:prstGeom prst="roundRect">
            <a:avLst>
              <a:gd name="adj" fmla="val 9091"/>
            </a:avLst>
          </a:prstGeom>
          <a:solidFill>
            <a:srgbClr val="E6F2F1"/>
          </a:solidFill>
          <a:ln w="9525">
            <a:solidFill>
              <a:srgbClr val="0F6F6C"/>
            </a:solidFill>
            <a:prstDash val="solid"/>
          </a:ln>
        </p:spPr>
      </p:sp>
      <p:sp>
        <p:nvSpPr>
          <p:cNvPr id="5" name="Text 3"/>
          <p:cNvSpPr txBox="1"/>
          <p:nvPr/>
        </p:nvSpPr>
        <p:spPr>
          <a:xfrm>
            <a:off x="640080" y="768096"/>
            <a:ext cx="7863840" cy="402336"/>
          </a:xfrm>
          <a:prstGeom prst="rect">
            <a:avLst/>
          </a:prstGeom>
          <a:noFill/>
          <a:ln/>
        </p:spPr>
        <p:txBody>
          <a:bodyPr wrap="square" lIns="0" tIns="0" rIns="0" bIns="0" rtlCol="0" anchor="ctr"/>
          <a:lstStyle/>
          <a:p>
            <a:pPr algn="ctr" indent="0" marL="0">
              <a:buNone/>
            </a:pPr>
            <a:r>
              <a:rPr lang="en-US" sz="1300" b="1" dirty="0">
                <a:solidFill>
                  <a:srgbClr val="0F6F6C"/>
                </a:solidFill>
                <a:latin typeface="Calibri" pitchFamily="34" charset="0"/>
                <a:ea typeface="Calibri" pitchFamily="34" charset="-122"/>
                <a:cs typeface="Calibri" pitchFamily="34" charset="-120"/>
              </a:rPr>
              <a:t>The question:  Are these the same genes that carry inherited DNA risk for the illness?</a:t>
            </a:r>
            <a:endParaRPr lang="en-US" sz="1300" dirty="0"/>
          </a:p>
        </p:txBody>
      </p:sp>
      <p:sp>
        <p:nvSpPr>
          <p:cNvPr id="6" name="Shape 4"/>
          <p:cNvSpPr/>
          <p:nvPr/>
        </p:nvSpPr>
        <p:spPr>
          <a:xfrm>
            <a:off x="822960" y="1316736"/>
            <a:ext cx="7498080" cy="548640"/>
          </a:xfrm>
          <a:prstGeom prst="roundRect">
            <a:avLst>
              <a:gd name="adj" fmla="val 6667"/>
            </a:avLst>
          </a:prstGeom>
          <a:solidFill>
            <a:srgbClr val="F2F5F8"/>
          </a:solidFill>
          <a:ln w="9525">
            <a:solidFill>
              <a:srgbClr val="DCE3E9"/>
            </a:solidFill>
            <a:prstDash val="solid"/>
          </a:ln>
        </p:spPr>
      </p:sp>
      <p:sp>
        <p:nvSpPr>
          <p:cNvPr id="7" name="Text 5"/>
          <p:cNvSpPr txBox="1"/>
          <p:nvPr/>
        </p:nvSpPr>
        <p:spPr>
          <a:xfrm>
            <a:off x="914400" y="1362456"/>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Take the DEG lists from analysis 1</a:t>
            </a:r>
            <a:endParaRPr lang="en-US" sz="1100" dirty="0"/>
          </a:p>
        </p:txBody>
      </p:sp>
      <p:sp>
        <p:nvSpPr>
          <p:cNvPr id="8" name="Text 6"/>
          <p:cNvSpPr txBox="1"/>
          <p:nvPr/>
        </p:nvSpPr>
        <p:spPr>
          <a:xfrm>
            <a:off x="914400" y="1545336"/>
            <a:ext cx="7315200" cy="274320"/>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lithium DEGs at FDR &lt; 0.05, and illness DEGs at a relaxed FDR &lt; 0.2</a:t>
            </a:r>
            <a:endParaRPr lang="en-US" sz="900" dirty="0"/>
          </a:p>
        </p:txBody>
      </p:sp>
      <p:sp>
        <p:nvSpPr>
          <p:cNvPr id="9" name="Shape 7"/>
          <p:cNvSpPr/>
          <p:nvPr/>
        </p:nvSpPr>
        <p:spPr>
          <a:xfrm>
            <a:off x="4572000" y="1865376"/>
            <a:ext cx="0" cy="109728"/>
          </a:xfrm>
          <a:prstGeom prst="line">
            <a:avLst/>
          </a:prstGeom>
          <a:noFill/>
          <a:ln w="19050">
            <a:solidFill>
              <a:srgbClr val="94A3AD"/>
            </a:solidFill>
            <a:prstDash val="solid"/>
            <a:tailEnd type="triangle"/>
          </a:ln>
        </p:spPr>
      </p:sp>
      <p:sp>
        <p:nvSpPr>
          <p:cNvPr id="10" name="Shape 8"/>
          <p:cNvSpPr/>
          <p:nvPr/>
        </p:nvSpPr>
        <p:spPr>
          <a:xfrm>
            <a:off x="822960" y="1975104"/>
            <a:ext cx="7498080" cy="548640"/>
          </a:xfrm>
          <a:prstGeom prst="roundRect">
            <a:avLst>
              <a:gd name="adj" fmla="val 6667"/>
            </a:avLst>
          </a:prstGeom>
          <a:solidFill>
            <a:srgbClr val="F2F5F8"/>
          </a:solidFill>
          <a:ln w="9525">
            <a:solidFill>
              <a:srgbClr val="DCE3E9"/>
            </a:solidFill>
            <a:prstDash val="solid"/>
          </a:ln>
        </p:spPr>
      </p:sp>
      <p:sp>
        <p:nvSpPr>
          <p:cNvPr id="11" name="Text 9"/>
          <p:cNvSpPr txBox="1"/>
          <p:nvPr/>
        </p:nvSpPr>
        <p:spPr>
          <a:xfrm>
            <a:off x="914400" y="2020824"/>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Take GWAS summary statistics</a:t>
            </a:r>
            <a:endParaRPr lang="en-US" sz="1100" dirty="0"/>
          </a:p>
        </p:txBody>
      </p:sp>
      <p:sp>
        <p:nvSpPr>
          <p:cNvPr id="12" name="Text 10"/>
          <p:cNvSpPr txBox="1"/>
          <p:nvPr/>
        </p:nvSpPr>
        <p:spPr>
          <a:xfrm>
            <a:off x="914400" y="2203704"/>
            <a:ext cx="7315200" cy="274320"/>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bipolar disorder, schizophrenia and self-reported depression</a:t>
            </a:r>
            <a:endParaRPr lang="en-US" sz="900" dirty="0"/>
          </a:p>
        </p:txBody>
      </p:sp>
      <p:sp>
        <p:nvSpPr>
          <p:cNvPr id="13" name="Shape 11"/>
          <p:cNvSpPr/>
          <p:nvPr/>
        </p:nvSpPr>
        <p:spPr>
          <a:xfrm>
            <a:off x="4572000" y="2523744"/>
            <a:ext cx="0" cy="109728"/>
          </a:xfrm>
          <a:prstGeom prst="line">
            <a:avLst/>
          </a:prstGeom>
          <a:noFill/>
          <a:ln w="19050">
            <a:solidFill>
              <a:srgbClr val="94A3AD"/>
            </a:solidFill>
            <a:prstDash val="solid"/>
            <a:tailEnd type="triangle"/>
          </a:ln>
        </p:spPr>
      </p:sp>
      <p:sp>
        <p:nvSpPr>
          <p:cNvPr id="14" name="Shape 12"/>
          <p:cNvSpPr/>
          <p:nvPr/>
        </p:nvSpPr>
        <p:spPr>
          <a:xfrm>
            <a:off x="822960" y="2633472"/>
            <a:ext cx="7498080" cy="548640"/>
          </a:xfrm>
          <a:prstGeom prst="roundRect">
            <a:avLst>
              <a:gd name="adj" fmla="val 6667"/>
            </a:avLst>
          </a:prstGeom>
          <a:solidFill>
            <a:srgbClr val="F2F5F8"/>
          </a:solidFill>
          <a:ln w="9525">
            <a:solidFill>
              <a:srgbClr val="DCE3E9"/>
            </a:solidFill>
            <a:prstDash val="solid"/>
          </a:ln>
        </p:spPr>
      </p:sp>
      <p:sp>
        <p:nvSpPr>
          <p:cNvPr id="15" name="Text 13"/>
          <p:cNvSpPr txBox="1"/>
          <p:nvPr/>
        </p:nvSpPr>
        <p:spPr>
          <a:xfrm>
            <a:off x="914400" y="2679192"/>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Map variants to genes and run MAGMA gene-set analysis</a:t>
            </a:r>
            <a:endParaRPr lang="en-US" sz="1100" dirty="0"/>
          </a:p>
        </p:txBody>
      </p:sp>
      <p:sp>
        <p:nvSpPr>
          <p:cNvPr id="16" name="Text 14"/>
          <p:cNvSpPr txBox="1"/>
          <p:nvPr/>
        </p:nvSpPr>
        <p:spPr>
          <a:xfrm>
            <a:off x="914400" y="2862072"/>
            <a:ext cx="7315200" cy="274320"/>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adjusting for gene size, variant density and linkage disequilibrium</a:t>
            </a:r>
            <a:endParaRPr lang="en-US" sz="900" dirty="0"/>
          </a:p>
        </p:txBody>
      </p:sp>
      <p:sp>
        <p:nvSpPr>
          <p:cNvPr id="17" name="Shape 15"/>
          <p:cNvSpPr/>
          <p:nvPr/>
        </p:nvSpPr>
        <p:spPr>
          <a:xfrm>
            <a:off x="4572000" y="3182112"/>
            <a:ext cx="0" cy="109728"/>
          </a:xfrm>
          <a:prstGeom prst="line">
            <a:avLst/>
          </a:prstGeom>
          <a:noFill/>
          <a:ln w="19050">
            <a:solidFill>
              <a:srgbClr val="94A3AD"/>
            </a:solidFill>
            <a:prstDash val="solid"/>
            <a:tailEnd type="triangle"/>
          </a:ln>
        </p:spPr>
      </p:sp>
      <p:sp>
        <p:nvSpPr>
          <p:cNvPr id="18" name="Shape 16"/>
          <p:cNvSpPr/>
          <p:nvPr/>
        </p:nvSpPr>
        <p:spPr>
          <a:xfrm>
            <a:off x="822960" y="3291840"/>
            <a:ext cx="7498080" cy="548640"/>
          </a:xfrm>
          <a:prstGeom prst="roundRect">
            <a:avLst>
              <a:gd name="adj" fmla="val 6667"/>
            </a:avLst>
          </a:prstGeom>
          <a:solidFill>
            <a:srgbClr val="F2F5F8"/>
          </a:solidFill>
          <a:ln w="9525">
            <a:solidFill>
              <a:srgbClr val="DCE3E9"/>
            </a:solidFill>
            <a:prstDash val="solid"/>
          </a:ln>
        </p:spPr>
      </p:sp>
      <p:sp>
        <p:nvSpPr>
          <p:cNvPr id="19" name="Text 17"/>
          <p:cNvSpPr txBox="1"/>
          <p:nvPr/>
        </p:nvSpPr>
        <p:spPr>
          <a:xfrm>
            <a:off x="914400" y="3337560"/>
            <a:ext cx="7315200" cy="192024"/>
          </a:xfrm>
          <a:prstGeom prst="rect">
            <a:avLst/>
          </a:prstGeom>
          <a:noFill/>
          <a:ln/>
        </p:spPr>
        <p:txBody>
          <a:bodyPr wrap="square" lIns="0" tIns="0" rIns="0" bIns="0" rtlCol="0" anchor="t"/>
          <a:lstStyle/>
          <a:p>
            <a:pPr algn="ctr" indent="0" marL="0">
              <a:buNone/>
            </a:pPr>
            <a:r>
              <a:rPr lang="en-US" sz="1100" b="1" dirty="0">
                <a:solidFill>
                  <a:srgbClr val="12263A"/>
                </a:solidFill>
                <a:latin typeface="Calibri" pitchFamily="34" charset="0"/>
                <a:ea typeface="Calibri" pitchFamily="34" charset="-122"/>
                <a:cs typeface="Calibri" pitchFamily="34" charset="-120"/>
              </a:rPr>
              <a:t>Include a positive and a negative control gene set</a:t>
            </a:r>
            <a:endParaRPr lang="en-US" sz="1100" dirty="0"/>
          </a:p>
        </p:txBody>
      </p:sp>
      <p:sp>
        <p:nvSpPr>
          <p:cNvPr id="20" name="Text 18"/>
          <p:cNvSpPr txBox="1"/>
          <p:nvPr/>
        </p:nvSpPr>
        <p:spPr>
          <a:xfrm>
            <a:off x="914400" y="3520440"/>
            <a:ext cx="7315200" cy="274320"/>
          </a:xfrm>
          <a:prstGeom prst="rect">
            <a:avLst/>
          </a:prstGeom>
          <a:noFill/>
          <a:ln/>
        </p:spPr>
        <p:txBody>
          <a:bodyPr wrap="square" lIns="0" tIns="0" rIns="0" bIns="0" rtlCol="0" anchor="t"/>
          <a:lstStyle/>
          <a:p>
            <a:pPr algn="ctr" indent="0" marL="0">
              <a:buNone/>
            </a:pPr>
            <a:r>
              <a:rPr lang="en-US" sz="900" dirty="0">
                <a:solidFill>
                  <a:srgbClr val="4E606D"/>
                </a:solidFill>
                <a:latin typeface="Calibri" pitchFamily="34" charset="0"/>
                <a:ea typeface="Calibri" pitchFamily="34" charset="-122"/>
                <a:cs typeface="Calibri" pitchFamily="34" charset="-120"/>
              </a:rPr>
              <a:t>a list drawn from the GWAS itself, and a random list</a:t>
            </a:r>
            <a:endParaRPr lang="en-US" sz="900" dirty="0"/>
          </a:p>
        </p:txBody>
      </p:sp>
      <p:sp>
        <p:nvSpPr>
          <p:cNvPr id="21" name="Shape 19"/>
          <p:cNvSpPr/>
          <p:nvPr/>
        </p:nvSpPr>
        <p:spPr>
          <a:xfrm>
            <a:off x="640080" y="4041648"/>
            <a:ext cx="7863840" cy="402336"/>
          </a:xfrm>
          <a:prstGeom prst="roundRect">
            <a:avLst>
              <a:gd name="adj" fmla="val 9091"/>
            </a:avLst>
          </a:prstGeom>
          <a:solidFill>
            <a:srgbClr val="12263A"/>
          </a:solidFill>
          <a:ln w="9525">
            <a:solidFill>
              <a:srgbClr val="12263A"/>
            </a:solidFill>
            <a:prstDash val="solid"/>
          </a:ln>
        </p:spPr>
      </p:sp>
      <p:sp>
        <p:nvSpPr>
          <p:cNvPr id="22" name="Text 20"/>
          <p:cNvSpPr txBox="1"/>
          <p:nvPr/>
        </p:nvSpPr>
        <p:spPr>
          <a:xfrm>
            <a:off x="640080" y="4041648"/>
            <a:ext cx="78638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What comes out:  whether expression changes reflect inherited risk, or are downstream of something else</a:t>
            </a:r>
            <a:endParaRPr lang="en-US" sz="1300" dirty="0"/>
          </a:p>
        </p:txBody>
      </p:sp>
      <p:sp>
        <p:nvSpPr>
          <p:cNvPr id="23" name="Text 21"/>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The two control lists are the part we plan to copy.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Five findings</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In the order they appear, and each one changes how you read the last.</a:t>
            </a:r>
            <a:endParaRPr lang="en-US" sz="1100" dirty="0"/>
          </a:p>
        </p:txBody>
      </p:sp>
      <p:sp>
        <p:nvSpPr>
          <p:cNvPr id="4" name="Shape 2"/>
          <p:cNvSpPr/>
          <p:nvPr/>
        </p:nvSpPr>
        <p:spPr>
          <a:xfrm>
            <a:off x="411480" y="950976"/>
            <a:ext cx="8321040" cy="621792"/>
          </a:xfrm>
          <a:prstGeom prst="roundRect">
            <a:avLst>
              <a:gd name="adj" fmla="val 5882"/>
            </a:avLst>
          </a:prstGeom>
          <a:solidFill>
            <a:srgbClr val="F2F5F8"/>
          </a:solidFill>
          <a:ln w="9525">
            <a:solidFill>
              <a:srgbClr val="DCE3E9"/>
            </a:solidFill>
            <a:prstDash val="solid"/>
          </a:ln>
        </p:spPr>
      </p:sp>
      <p:sp>
        <p:nvSpPr>
          <p:cNvPr id="5" name="Shape 3"/>
          <p:cNvSpPr/>
          <p:nvPr/>
        </p:nvSpPr>
        <p:spPr>
          <a:xfrm>
            <a:off x="603504" y="1124712"/>
            <a:ext cx="274320" cy="274320"/>
          </a:xfrm>
          <a:prstGeom prst="ellipse">
            <a:avLst/>
          </a:prstGeom>
          <a:solidFill>
            <a:srgbClr val="075B85"/>
          </a:solidFill>
          <a:ln w="12700">
            <a:solidFill>
              <a:srgbClr val="333333"/>
            </a:solidFill>
            <a:prstDash val="solid"/>
          </a:ln>
        </p:spPr>
      </p:sp>
      <p:sp>
        <p:nvSpPr>
          <p:cNvPr id="6" name="Text 4"/>
          <p:cNvSpPr txBox="1"/>
          <p:nvPr/>
        </p:nvSpPr>
        <p:spPr>
          <a:xfrm>
            <a:off x="603504" y="11247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042416" y="1005840"/>
            <a:ext cx="3840480" cy="512064"/>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Almost nothing tracks the illness</a:t>
            </a:r>
            <a:endParaRPr lang="en-US" sz="1350" dirty="0"/>
          </a:p>
        </p:txBody>
      </p:sp>
      <p:sp>
        <p:nvSpPr>
          <p:cNvPr id="8" name="Text 6"/>
          <p:cNvSpPr txBox="1"/>
          <p:nvPr/>
        </p:nvSpPr>
        <p:spPr>
          <a:xfrm>
            <a:off x="5029200" y="1005840"/>
            <a:ext cx="3566160" cy="512064"/>
          </a:xfrm>
          <a:prstGeom prst="rect">
            <a:avLst/>
          </a:prstGeom>
          <a:noFill/>
          <a:ln/>
        </p:spPr>
        <p:txBody>
          <a:bodyPr wrap="square" lIns="0" tIns="0" rIns="0" bIns="0" rtlCol="0" anchor="ctr"/>
          <a:lstStyle/>
          <a:p>
            <a:pPr indent="0" marL="0">
              <a:buNone/>
            </a:pPr>
            <a:r>
              <a:rPr lang="en-US" sz="1200" dirty="0">
                <a:solidFill>
                  <a:srgbClr val="4E606D"/>
                </a:solidFill>
                <a:latin typeface="Calibri" pitchFamily="34" charset="0"/>
                <a:ea typeface="Calibri" pitchFamily="34" charset="-122"/>
                <a:cs typeface="Calibri" pitchFamily="34" charset="-120"/>
              </a:rPr>
              <a:t>6 genes out of 12,344</a:t>
            </a:r>
            <a:endParaRPr lang="en-US" sz="1200" dirty="0"/>
          </a:p>
        </p:txBody>
      </p:sp>
      <p:sp>
        <p:nvSpPr>
          <p:cNvPr id="9" name="Shape 7"/>
          <p:cNvSpPr/>
          <p:nvPr/>
        </p:nvSpPr>
        <p:spPr>
          <a:xfrm>
            <a:off x="411480" y="1664208"/>
            <a:ext cx="8321040" cy="621792"/>
          </a:xfrm>
          <a:prstGeom prst="roundRect">
            <a:avLst>
              <a:gd name="adj" fmla="val 5882"/>
            </a:avLst>
          </a:prstGeom>
          <a:solidFill>
            <a:srgbClr val="F2F5F8"/>
          </a:solidFill>
          <a:ln w="9525">
            <a:solidFill>
              <a:srgbClr val="DCE3E9"/>
            </a:solidFill>
            <a:prstDash val="solid"/>
          </a:ln>
        </p:spPr>
      </p:sp>
      <p:sp>
        <p:nvSpPr>
          <p:cNvPr id="10" name="Shape 8"/>
          <p:cNvSpPr/>
          <p:nvPr/>
        </p:nvSpPr>
        <p:spPr>
          <a:xfrm>
            <a:off x="603504" y="1837944"/>
            <a:ext cx="274320" cy="274320"/>
          </a:xfrm>
          <a:prstGeom prst="ellipse">
            <a:avLst/>
          </a:prstGeom>
          <a:solidFill>
            <a:srgbClr val="075B85"/>
          </a:solidFill>
          <a:ln w="12700">
            <a:solidFill>
              <a:srgbClr val="333333"/>
            </a:solidFill>
            <a:prstDash val="solid"/>
          </a:ln>
        </p:spPr>
      </p:sp>
      <p:sp>
        <p:nvSpPr>
          <p:cNvPr id="11" name="Text 9"/>
          <p:cNvSpPr txBox="1"/>
          <p:nvPr/>
        </p:nvSpPr>
        <p:spPr>
          <a:xfrm>
            <a:off x="603504" y="18379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1042416" y="1719072"/>
            <a:ext cx="3840480" cy="512064"/>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A great deal tracks lithium</a:t>
            </a:r>
            <a:endParaRPr lang="en-US" sz="1350" dirty="0"/>
          </a:p>
        </p:txBody>
      </p:sp>
      <p:sp>
        <p:nvSpPr>
          <p:cNvPr id="13" name="Text 11"/>
          <p:cNvSpPr txBox="1"/>
          <p:nvPr/>
        </p:nvSpPr>
        <p:spPr>
          <a:xfrm>
            <a:off x="5029200" y="1719072"/>
            <a:ext cx="3566160" cy="512064"/>
          </a:xfrm>
          <a:prstGeom prst="rect">
            <a:avLst/>
          </a:prstGeom>
          <a:noFill/>
          <a:ln/>
        </p:spPr>
        <p:txBody>
          <a:bodyPr wrap="square" lIns="0" tIns="0" rIns="0" bIns="0" rtlCol="0" anchor="ctr"/>
          <a:lstStyle/>
          <a:p>
            <a:pPr indent="0" marL="0">
              <a:buNone/>
            </a:pPr>
            <a:r>
              <a:rPr lang="en-US" sz="1200" dirty="0">
                <a:solidFill>
                  <a:srgbClr val="4E606D"/>
                </a:solidFill>
                <a:latin typeface="Calibri" pitchFamily="34" charset="0"/>
                <a:ea typeface="Calibri" pitchFamily="34" charset="-122"/>
                <a:cs typeface="Calibri" pitchFamily="34" charset="-120"/>
              </a:rPr>
              <a:t>976 genes, from the same pipeline</a:t>
            </a:r>
            <a:endParaRPr lang="en-US" sz="1200" dirty="0"/>
          </a:p>
        </p:txBody>
      </p:sp>
      <p:sp>
        <p:nvSpPr>
          <p:cNvPr id="14" name="Shape 12"/>
          <p:cNvSpPr/>
          <p:nvPr/>
        </p:nvSpPr>
        <p:spPr>
          <a:xfrm>
            <a:off x="411480" y="2377440"/>
            <a:ext cx="8321040" cy="621792"/>
          </a:xfrm>
          <a:prstGeom prst="roundRect">
            <a:avLst>
              <a:gd name="adj" fmla="val 5882"/>
            </a:avLst>
          </a:prstGeom>
          <a:solidFill>
            <a:srgbClr val="F2F5F8"/>
          </a:solidFill>
          <a:ln w="9525">
            <a:solidFill>
              <a:srgbClr val="DCE3E9"/>
            </a:solidFill>
            <a:prstDash val="solid"/>
          </a:ln>
        </p:spPr>
      </p:sp>
      <p:sp>
        <p:nvSpPr>
          <p:cNvPr id="15" name="Shape 13"/>
          <p:cNvSpPr/>
          <p:nvPr/>
        </p:nvSpPr>
        <p:spPr>
          <a:xfrm>
            <a:off x="603504" y="2551176"/>
            <a:ext cx="274320" cy="274320"/>
          </a:xfrm>
          <a:prstGeom prst="ellipse">
            <a:avLst/>
          </a:prstGeom>
          <a:solidFill>
            <a:srgbClr val="075B85"/>
          </a:solidFill>
          <a:ln w="12700">
            <a:solidFill>
              <a:srgbClr val="333333"/>
            </a:solidFill>
            <a:prstDash val="solid"/>
          </a:ln>
        </p:spPr>
      </p:sp>
      <p:sp>
        <p:nvSpPr>
          <p:cNvPr id="16" name="Text 14"/>
          <p:cNvSpPr txBox="1"/>
          <p:nvPr/>
        </p:nvSpPr>
        <p:spPr>
          <a:xfrm>
            <a:off x="603504" y="25511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1042416" y="2432304"/>
            <a:ext cx="3840480" cy="512064"/>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The gene networks agree</a:t>
            </a:r>
            <a:endParaRPr lang="en-US" sz="1350" dirty="0"/>
          </a:p>
        </p:txBody>
      </p:sp>
      <p:sp>
        <p:nvSpPr>
          <p:cNvPr id="18" name="Text 16"/>
          <p:cNvSpPr txBox="1"/>
          <p:nvPr/>
        </p:nvSpPr>
        <p:spPr>
          <a:xfrm>
            <a:off x="5029200" y="2432304"/>
            <a:ext cx="3566160" cy="512064"/>
          </a:xfrm>
          <a:prstGeom prst="rect">
            <a:avLst/>
          </a:prstGeom>
          <a:noFill/>
          <a:ln/>
        </p:spPr>
        <p:txBody>
          <a:bodyPr wrap="square" lIns="0" tIns="0" rIns="0" bIns="0" rtlCol="0" anchor="ctr"/>
          <a:lstStyle/>
          <a:p>
            <a:pPr indent="0" marL="0">
              <a:buNone/>
            </a:pPr>
            <a:r>
              <a:rPr lang="en-US" sz="1200" dirty="0">
                <a:solidFill>
                  <a:srgbClr val="4E606D"/>
                </a:solidFill>
                <a:latin typeface="Calibri" pitchFamily="34" charset="0"/>
                <a:ea typeface="Calibri" pitchFamily="34" charset="-122"/>
                <a:cs typeface="Calibri" pitchFamily="34" charset="-120"/>
              </a:rPr>
              <a:t>5 modules track lithium, none track illness</a:t>
            </a:r>
            <a:endParaRPr lang="en-US" sz="1200" dirty="0"/>
          </a:p>
        </p:txBody>
      </p:sp>
      <p:sp>
        <p:nvSpPr>
          <p:cNvPr id="19" name="Shape 17"/>
          <p:cNvSpPr/>
          <p:nvPr/>
        </p:nvSpPr>
        <p:spPr>
          <a:xfrm>
            <a:off x="411480" y="3090672"/>
            <a:ext cx="8321040" cy="621792"/>
          </a:xfrm>
          <a:prstGeom prst="roundRect">
            <a:avLst>
              <a:gd name="adj" fmla="val 5882"/>
            </a:avLst>
          </a:prstGeom>
          <a:solidFill>
            <a:srgbClr val="F2F5F8"/>
          </a:solidFill>
          <a:ln w="9525">
            <a:solidFill>
              <a:srgbClr val="DCE3E9"/>
            </a:solidFill>
            <a:prstDash val="solid"/>
          </a:ln>
        </p:spPr>
      </p:sp>
      <p:sp>
        <p:nvSpPr>
          <p:cNvPr id="20" name="Shape 18"/>
          <p:cNvSpPr/>
          <p:nvPr/>
        </p:nvSpPr>
        <p:spPr>
          <a:xfrm>
            <a:off x="603504" y="3264408"/>
            <a:ext cx="274320" cy="274320"/>
          </a:xfrm>
          <a:prstGeom prst="ellipse">
            <a:avLst/>
          </a:prstGeom>
          <a:solidFill>
            <a:srgbClr val="075B85"/>
          </a:solidFill>
          <a:ln w="12700">
            <a:solidFill>
              <a:srgbClr val="333333"/>
            </a:solidFill>
            <a:prstDash val="solid"/>
          </a:ln>
        </p:spPr>
      </p:sp>
      <p:sp>
        <p:nvSpPr>
          <p:cNvPr id="21" name="Text 19"/>
          <p:cNvSpPr txBox="1"/>
          <p:nvPr/>
        </p:nvSpPr>
        <p:spPr>
          <a:xfrm>
            <a:off x="603504" y="32644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042416" y="3145536"/>
            <a:ext cx="3840480" cy="512064"/>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Most of it is the cell mixture</a:t>
            </a:r>
            <a:endParaRPr lang="en-US" sz="1350" dirty="0"/>
          </a:p>
        </p:txBody>
      </p:sp>
      <p:sp>
        <p:nvSpPr>
          <p:cNvPr id="23" name="Text 21"/>
          <p:cNvSpPr txBox="1"/>
          <p:nvPr/>
        </p:nvSpPr>
        <p:spPr>
          <a:xfrm>
            <a:off x="5029200" y="3145536"/>
            <a:ext cx="3566160" cy="512064"/>
          </a:xfrm>
          <a:prstGeom prst="rect">
            <a:avLst/>
          </a:prstGeom>
          <a:noFill/>
          <a:ln/>
        </p:spPr>
        <p:txBody>
          <a:bodyPr wrap="square" lIns="0" tIns="0" rIns="0" bIns="0" rtlCol="0" anchor="ctr"/>
          <a:lstStyle/>
          <a:p>
            <a:pPr indent="0" marL="0">
              <a:buNone/>
            </a:pPr>
            <a:r>
              <a:rPr lang="en-US" sz="1200" dirty="0">
                <a:solidFill>
                  <a:srgbClr val="4E606D"/>
                </a:solidFill>
                <a:latin typeface="Calibri" pitchFamily="34" charset="0"/>
                <a:ea typeface="Calibri" pitchFamily="34" charset="-122"/>
                <a:cs typeface="Calibri" pitchFamily="34" charset="-120"/>
              </a:rPr>
              <a:t>976 drops to 233 once the mixture is accounted for</a:t>
            </a:r>
            <a:endParaRPr lang="en-US" sz="1200" dirty="0"/>
          </a:p>
        </p:txBody>
      </p:sp>
      <p:sp>
        <p:nvSpPr>
          <p:cNvPr id="24" name="Shape 22"/>
          <p:cNvSpPr/>
          <p:nvPr/>
        </p:nvSpPr>
        <p:spPr>
          <a:xfrm>
            <a:off x="411480" y="3803904"/>
            <a:ext cx="8321040" cy="621792"/>
          </a:xfrm>
          <a:prstGeom prst="roundRect">
            <a:avLst>
              <a:gd name="adj" fmla="val 5882"/>
            </a:avLst>
          </a:prstGeom>
          <a:solidFill>
            <a:srgbClr val="F2F5F8"/>
          </a:solidFill>
          <a:ln w="9525">
            <a:solidFill>
              <a:srgbClr val="DCE3E9"/>
            </a:solidFill>
            <a:prstDash val="solid"/>
          </a:ln>
        </p:spPr>
      </p:sp>
      <p:sp>
        <p:nvSpPr>
          <p:cNvPr id="25" name="Shape 23"/>
          <p:cNvSpPr/>
          <p:nvPr/>
        </p:nvSpPr>
        <p:spPr>
          <a:xfrm>
            <a:off x="603504" y="3977640"/>
            <a:ext cx="274320" cy="274320"/>
          </a:xfrm>
          <a:prstGeom prst="ellipse">
            <a:avLst/>
          </a:prstGeom>
          <a:solidFill>
            <a:srgbClr val="075B85"/>
          </a:solidFill>
          <a:ln w="12700">
            <a:solidFill>
              <a:srgbClr val="333333"/>
            </a:solidFill>
            <a:prstDash val="solid"/>
          </a:ln>
        </p:spPr>
      </p:sp>
      <p:sp>
        <p:nvSpPr>
          <p:cNvPr id="26" name="Text 24"/>
          <p:cNvSpPr txBox="1"/>
          <p:nvPr/>
        </p:nvSpPr>
        <p:spPr>
          <a:xfrm>
            <a:off x="603504" y="39776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1042416" y="3858768"/>
            <a:ext cx="3840480" cy="512064"/>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None of it is inherited risk</a:t>
            </a:r>
            <a:endParaRPr lang="en-US" sz="1350" dirty="0"/>
          </a:p>
        </p:txBody>
      </p:sp>
      <p:sp>
        <p:nvSpPr>
          <p:cNvPr id="28" name="Text 26"/>
          <p:cNvSpPr txBox="1"/>
          <p:nvPr/>
        </p:nvSpPr>
        <p:spPr>
          <a:xfrm>
            <a:off x="5029200" y="3858768"/>
            <a:ext cx="3566160" cy="512064"/>
          </a:xfrm>
          <a:prstGeom prst="rect">
            <a:avLst/>
          </a:prstGeom>
          <a:noFill/>
          <a:ln/>
        </p:spPr>
        <p:txBody>
          <a:bodyPr wrap="square" lIns="0" tIns="0" rIns="0" bIns="0" rtlCol="0" anchor="ctr"/>
          <a:lstStyle/>
          <a:p>
            <a:pPr indent="0" marL="0">
              <a:buNone/>
            </a:pPr>
            <a:r>
              <a:rPr lang="en-US" sz="1200" dirty="0">
                <a:solidFill>
                  <a:srgbClr val="4E606D"/>
                </a:solidFill>
                <a:latin typeface="Calibri" pitchFamily="34" charset="0"/>
                <a:ea typeface="Calibri" pitchFamily="34" charset="-122"/>
                <a:cs typeface="Calibri" pitchFamily="34" charset="-120"/>
              </a:rPr>
              <a:t>no overlap with DNA risk genes at all</a:t>
            </a:r>
            <a:endParaRPr lang="en-US" sz="1200" dirty="0"/>
          </a:p>
        </p:txBody>
      </p:sp>
      <p:sp>
        <p:nvSpPr>
          <p:cNvPr id="29" name="Text 27"/>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Findings 4 and 5 are the ones that reframe the whole paper.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Findings 1 and 2: the two headline numbers</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Same pipeline, same people, same blood draw.</a:t>
            </a:r>
            <a:endParaRPr lang="en-US" sz="1100" dirty="0"/>
          </a:p>
        </p:txBody>
      </p:sp>
      <p:sp>
        <p:nvSpPr>
          <p:cNvPr id="4" name="Shape 2"/>
          <p:cNvSpPr/>
          <p:nvPr/>
        </p:nvSpPr>
        <p:spPr>
          <a:xfrm>
            <a:off x="411480" y="932688"/>
            <a:ext cx="4069080" cy="1152144"/>
          </a:xfrm>
          <a:prstGeom prst="roundRect">
            <a:avLst>
              <a:gd name="adj" fmla="val 3175"/>
            </a:avLst>
          </a:prstGeom>
          <a:solidFill>
            <a:srgbClr val="F2F5F8"/>
          </a:solidFill>
          <a:ln w="9525">
            <a:solidFill>
              <a:srgbClr val="DCE3E9"/>
            </a:solidFill>
            <a:prstDash val="solid"/>
          </a:ln>
        </p:spPr>
      </p:sp>
      <p:sp>
        <p:nvSpPr>
          <p:cNvPr id="5" name="Text 3"/>
          <p:cNvSpPr txBox="1"/>
          <p:nvPr/>
        </p:nvSpPr>
        <p:spPr>
          <a:xfrm>
            <a:off x="411480" y="1024128"/>
            <a:ext cx="4069080" cy="548640"/>
          </a:xfrm>
          <a:prstGeom prst="rect">
            <a:avLst/>
          </a:prstGeom>
          <a:noFill/>
          <a:ln/>
        </p:spPr>
        <p:txBody>
          <a:bodyPr wrap="square" lIns="0" tIns="0" rIns="0" bIns="0" rtlCol="0" anchor="ctr"/>
          <a:lstStyle/>
          <a:p>
            <a:pPr algn="ctr" indent="0" marL="0">
              <a:buNone/>
            </a:pPr>
            <a:r>
              <a:rPr lang="en-US" sz="3800" b="1" dirty="0">
                <a:solidFill>
                  <a:srgbClr val="4E606D"/>
                </a:solidFill>
                <a:latin typeface="Calibri" pitchFamily="34" charset="0"/>
                <a:ea typeface="Calibri" pitchFamily="34" charset="-122"/>
                <a:cs typeface="Calibri" pitchFamily="34" charset="-120"/>
              </a:rPr>
              <a:t>6</a:t>
            </a:r>
            <a:endParaRPr lang="en-US" sz="3800" dirty="0"/>
          </a:p>
        </p:txBody>
      </p:sp>
      <p:sp>
        <p:nvSpPr>
          <p:cNvPr id="6" name="Text 4"/>
          <p:cNvSpPr txBox="1"/>
          <p:nvPr/>
        </p:nvSpPr>
        <p:spPr>
          <a:xfrm>
            <a:off x="411480" y="1645920"/>
            <a:ext cx="4069080" cy="274320"/>
          </a:xfrm>
          <a:prstGeom prst="rect">
            <a:avLst/>
          </a:prstGeom>
          <a:noFill/>
          <a:ln/>
        </p:spPr>
        <p:txBody>
          <a:bodyPr wrap="square" lIns="0" tIns="0" rIns="0" bIns="0" rtlCol="0" anchor="ctr"/>
          <a:lstStyle/>
          <a:p>
            <a:pPr algn="ctr" indent="0" marL="0">
              <a:buNone/>
            </a:pPr>
            <a:r>
              <a:rPr lang="en-US" sz="1300" dirty="0">
                <a:solidFill>
                  <a:srgbClr val="4E606D"/>
                </a:solidFill>
                <a:latin typeface="Calibri" pitchFamily="34" charset="0"/>
                <a:ea typeface="Calibri" pitchFamily="34" charset="-122"/>
                <a:cs typeface="Calibri" pitchFamily="34" charset="-120"/>
              </a:rPr>
              <a:t>genes differ by illness</a:t>
            </a:r>
            <a:endParaRPr lang="en-US" sz="1300" dirty="0"/>
          </a:p>
        </p:txBody>
      </p:sp>
      <p:sp>
        <p:nvSpPr>
          <p:cNvPr id="7" name="Shape 5"/>
          <p:cNvSpPr/>
          <p:nvPr/>
        </p:nvSpPr>
        <p:spPr>
          <a:xfrm>
            <a:off x="4663440" y="932688"/>
            <a:ext cx="4069080" cy="1152144"/>
          </a:xfrm>
          <a:prstGeom prst="roundRect">
            <a:avLst>
              <a:gd name="adj" fmla="val 3175"/>
            </a:avLst>
          </a:prstGeom>
          <a:solidFill>
            <a:srgbClr val="12263A"/>
          </a:solidFill>
          <a:ln w="9525">
            <a:solidFill>
              <a:srgbClr val="12263A"/>
            </a:solidFill>
            <a:prstDash val="solid"/>
          </a:ln>
        </p:spPr>
      </p:sp>
      <p:sp>
        <p:nvSpPr>
          <p:cNvPr id="8" name="Text 6"/>
          <p:cNvSpPr txBox="1"/>
          <p:nvPr/>
        </p:nvSpPr>
        <p:spPr>
          <a:xfrm>
            <a:off x="4663440" y="1024128"/>
            <a:ext cx="4069080" cy="548640"/>
          </a:xfrm>
          <a:prstGeom prst="rect">
            <a:avLst/>
          </a:prstGeom>
          <a:noFill/>
          <a:ln/>
        </p:spPr>
        <p:txBody>
          <a:bodyPr wrap="square" lIns="0" tIns="0" rIns="0" bIns="0"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976</a:t>
            </a:r>
            <a:endParaRPr lang="en-US" sz="3800" dirty="0"/>
          </a:p>
        </p:txBody>
      </p:sp>
      <p:sp>
        <p:nvSpPr>
          <p:cNvPr id="9" name="Text 7"/>
          <p:cNvSpPr txBox="1"/>
          <p:nvPr/>
        </p:nvSpPr>
        <p:spPr>
          <a:xfrm>
            <a:off x="4663440" y="1645920"/>
            <a:ext cx="4069080" cy="274320"/>
          </a:xfrm>
          <a:prstGeom prst="rect">
            <a:avLst/>
          </a:prstGeom>
          <a:noFill/>
          <a:ln/>
        </p:spPr>
        <p:txBody>
          <a:bodyPr wrap="square" lIns="0" tIns="0" rIns="0" bIns="0" rtlCol="0" anchor="ctr"/>
          <a:lstStyle/>
          <a:p>
            <a:pPr algn="ctr" indent="0" marL="0">
              <a:buNone/>
            </a:pPr>
            <a:r>
              <a:rPr lang="en-US" sz="1300" dirty="0">
                <a:solidFill>
                  <a:srgbClr val="CFE0EE"/>
                </a:solidFill>
                <a:latin typeface="Calibri" pitchFamily="34" charset="0"/>
                <a:ea typeface="Calibri" pitchFamily="34" charset="-122"/>
                <a:cs typeface="Calibri" pitchFamily="34" charset="-120"/>
              </a:rPr>
              <a:t>genes differ by lithium use</a:t>
            </a:r>
            <a:endParaRPr lang="en-US" sz="1300" dirty="0"/>
          </a:p>
        </p:txBody>
      </p:sp>
      <p:sp>
        <p:nvSpPr>
          <p:cNvPr id="10" name="Shape 8"/>
          <p:cNvSpPr/>
          <p:nvPr/>
        </p:nvSpPr>
        <p:spPr>
          <a:xfrm>
            <a:off x="411480" y="2267712"/>
            <a:ext cx="8321040" cy="566928"/>
          </a:xfrm>
          <a:prstGeom prst="roundRect">
            <a:avLst>
              <a:gd name="adj" fmla="val 6452"/>
            </a:avLst>
          </a:prstGeom>
          <a:solidFill>
            <a:srgbClr val="F2F5F8"/>
          </a:solidFill>
          <a:ln w="9525">
            <a:solidFill>
              <a:srgbClr val="DCE3E9"/>
            </a:solidFill>
            <a:prstDash val="solid"/>
          </a:ln>
        </p:spPr>
      </p:sp>
      <p:sp>
        <p:nvSpPr>
          <p:cNvPr id="11" name="Shape 9"/>
          <p:cNvSpPr/>
          <p:nvPr/>
        </p:nvSpPr>
        <p:spPr>
          <a:xfrm>
            <a:off x="411480" y="2267712"/>
            <a:ext cx="50292" cy="566928"/>
          </a:xfrm>
          <a:prstGeom prst="rect">
            <a:avLst/>
          </a:prstGeom>
          <a:solidFill>
            <a:srgbClr val="075B85"/>
          </a:solidFill>
          <a:ln w="12700">
            <a:solidFill>
              <a:srgbClr val="333333"/>
            </a:solidFill>
            <a:prstDash val="solid"/>
          </a:ln>
        </p:spPr>
      </p:sp>
      <p:sp>
        <p:nvSpPr>
          <p:cNvPr id="12" name="Text 10"/>
          <p:cNvSpPr txBox="1"/>
          <p:nvPr/>
        </p:nvSpPr>
        <p:spPr>
          <a:xfrm>
            <a:off x="658368" y="2313432"/>
            <a:ext cx="7863840" cy="475488"/>
          </a:xfrm>
          <a:prstGeom prst="rect">
            <a:avLst/>
          </a:prstGeom>
          <a:noFill/>
          <a:ln/>
        </p:spPr>
        <p:txBody>
          <a:bodyPr wrap="square" lIns="0" tIns="0" rIns="0" bIns="0" rtlCol="0" anchor="ctr"/>
          <a:lstStyle/>
          <a:p>
            <a:pPr indent="0" marL="0">
              <a:buNone/>
            </a:pPr>
            <a:r>
              <a:rPr lang="en-US" sz="1250" dirty="0">
                <a:solidFill>
                  <a:srgbClr val="12263A"/>
                </a:solidFill>
                <a:latin typeface="Calibri" pitchFamily="34" charset="0"/>
                <a:ea typeface="Calibri" pitchFamily="34" charset="-122"/>
                <a:cs typeface="Calibri" pitchFamily="34" charset="-120"/>
              </a:rPr>
              <a:t>The six illness genes are all expressed in brain tissue, but the differences are tiny</a:t>
            </a:r>
            <a:endParaRPr lang="en-US" sz="1250" dirty="0"/>
          </a:p>
        </p:txBody>
      </p:sp>
      <p:sp>
        <p:nvSpPr>
          <p:cNvPr id="13" name="Shape 11"/>
          <p:cNvSpPr/>
          <p:nvPr/>
        </p:nvSpPr>
        <p:spPr>
          <a:xfrm>
            <a:off x="411480" y="2971800"/>
            <a:ext cx="8321040" cy="566928"/>
          </a:xfrm>
          <a:prstGeom prst="roundRect">
            <a:avLst>
              <a:gd name="adj" fmla="val 6452"/>
            </a:avLst>
          </a:prstGeom>
          <a:solidFill>
            <a:srgbClr val="F2F5F8"/>
          </a:solidFill>
          <a:ln w="9525">
            <a:solidFill>
              <a:srgbClr val="DCE3E9"/>
            </a:solidFill>
            <a:prstDash val="solid"/>
          </a:ln>
        </p:spPr>
      </p:sp>
      <p:sp>
        <p:nvSpPr>
          <p:cNvPr id="14" name="Shape 12"/>
          <p:cNvSpPr/>
          <p:nvPr/>
        </p:nvSpPr>
        <p:spPr>
          <a:xfrm>
            <a:off x="411480" y="2971800"/>
            <a:ext cx="50292" cy="566928"/>
          </a:xfrm>
          <a:prstGeom prst="rect">
            <a:avLst/>
          </a:prstGeom>
          <a:solidFill>
            <a:srgbClr val="075B85"/>
          </a:solidFill>
          <a:ln w="12700">
            <a:solidFill>
              <a:srgbClr val="333333"/>
            </a:solidFill>
            <a:prstDash val="solid"/>
          </a:ln>
        </p:spPr>
      </p:sp>
      <p:sp>
        <p:nvSpPr>
          <p:cNvPr id="15" name="Text 13"/>
          <p:cNvSpPr txBox="1"/>
          <p:nvPr/>
        </p:nvSpPr>
        <p:spPr>
          <a:xfrm>
            <a:off x="658368" y="3017520"/>
            <a:ext cx="7863840" cy="475488"/>
          </a:xfrm>
          <a:prstGeom prst="rect">
            <a:avLst/>
          </a:prstGeom>
          <a:noFill/>
          <a:ln/>
        </p:spPr>
        <p:txBody>
          <a:bodyPr wrap="square" lIns="0" tIns="0" rIns="0" bIns="0" rtlCol="0" anchor="ctr"/>
          <a:lstStyle/>
          <a:p>
            <a:pPr indent="0" marL="0">
              <a:buNone/>
            </a:pPr>
            <a:r>
              <a:rPr lang="en-US" sz="1250" dirty="0">
                <a:solidFill>
                  <a:srgbClr val="12263A"/>
                </a:solidFill>
                <a:latin typeface="Calibri" pitchFamily="34" charset="0"/>
                <a:ea typeface="Calibri" pitchFamily="34" charset="-122"/>
                <a:cs typeface="Calibri" pitchFamily="34" charset="-120"/>
              </a:rPr>
              <a:t>Using a genetic risk score instead of the yes-or-no diagnosis found nothing at all</a:t>
            </a:r>
            <a:endParaRPr lang="en-US" sz="1250" dirty="0"/>
          </a:p>
        </p:txBody>
      </p:sp>
      <p:sp>
        <p:nvSpPr>
          <p:cNvPr id="16" name="Shape 14"/>
          <p:cNvSpPr/>
          <p:nvPr/>
        </p:nvSpPr>
        <p:spPr>
          <a:xfrm>
            <a:off x="411480" y="3675888"/>
            <a:ext cx="8321040" cy="566928"/>
          </a:xfrm>
          <a:prstGeom prst="roundRect">
            <a:avLst>
              <a:gd name="adj" fmla="val 6452"/>
            </a:avLst>
          </a:prstGeom>
          <a:solidFill>
            <a:srgbClr val="F2F5F8"/>
          </a:solidFill>
          <a:ln w="9525">
            <a:solidFill>
              <a:srgbClr val="DCE3E9"/>
            </a:solidFill>
            <a:prstDash val="solid"/>
          </a:ln>
        </p:spPr>
      </p:sp>
      <p:sp>
        <p:nvSpPr>
          <p:cNvPr id="17" name="Shape 15"/>
          <p:cNvSpPr/>
          <p:nvPr/>
        </p:nvSpPr>
        <p:spPr>
          <a:xfrm>
            <a:off x="411480" y="3675888"/>
            <a:ext cx="50292" cy="566928"/>
          </a:xfrm>
          <a:prstGeom prst="rect">
            <a:avLst/>
          </a:prstGeom>
          <a:solidFill>
            <a:srgbClr val="075B85"/>
          </a:solidFill>
          <a:ln w="12700">
            <a:solidFill>
              <a:srgbClr val="333333"/>
            </a:solidFill>
            <a:prstDash val="solid"/>
          </a:ln>
        </p:spPr>
      </p:sp>
      <p:sp>
        <p:nvSpPr>
          <p:cNvPr id="18" name="Text 16"/>
          <p:cNvSpPr txBox="1"/>
          <p:nvPr/>
        </p:nvSpPr>
        <p:spPr>
          <a:xfrm>
            <a:off x="658368" y="3721608"/>
            <a:ext cx="7863840" cy="475488"/>
          </a:xfrm>
          <a:prstGeom prst="rect">
            <a:avLst/>
          </a:prstGeom>
          <a:noFill/>
          <a:ln/>
        </p:spPr>
        <p:txBody>
          <a:bodyPr wrap="square" lIns="0" tIns="0" rIns="0" bIns="0" rtlCol="0" anchor="ctr"/>
          <a:lstStyle/>
          <a:p>
            <a:pPr indent="0" marL="0">
              <a:buNone/>
            </a:pPr>
            <a:r>
              <a:rPr lang="en-US" sz="1250" dirty="0">
                <a:solidFill>
                  <a:srgbClr val="12263A"/>
                </a:solidFill>
                <a:latin typeface="Calibri" pitchFamily="34" charset="0"/>
                <a:ea typeface="Calibri" pitchFamily="34" charset="-122"/>
                <a:cs typeface="Calibri" pitchFamily="34" charset="-120"/>
              </a:rPr>
              <a:t>The 976 lithium genes are individually small too, but there are many of them</a:t>
            </a:r>
            <a:endParaRPr lang="en-US" sz="1250" dirty="0"/>
          </a:p>
        </p:txBody>
      </p:sp>
      <p:sp>
        <p:nvSpPr>
          <p:cNvPr id="19" name="Shape 17"/>
          <p:cNvSpPr/>
          <p:nvPr/>
        </p:nvSpPr>
        <p:spPr>
          <a:xfrm>
            <a:off x="411480" y="4379976"/>
            <a:ext cx="8321040" cy="566928"/>
          </a:xfrm>
          <a:prstGeom prst="roundRect">
            <a:avLst>
              <a:gd name="adj" fmla="val 6452"/>
            </a:avLst>
          </a:prstGeom>
          <a:solidFill>
            <a:srgbClr val="F2F5F8"/>
          </a:solidFill>
          <a:ln w="9525">
            <a:solidFill>
              <a:srgbClr val="DCE3E9"/>
            </a:solidFill>
            <a:prstDash val="solid"/>
          </a:ln>
        </p:spPr>
      </p:sp>
      <p:sp>
        <p:nvSpPr>
          <p:cNvPr id="20" name="Shape 18"/>
          <p:cNvSpPr/>
          <p:nvPr/>
        </p:nvSpPr>
        <p:spPr>
          <a:xfrm>
            <a:off x="411480" y="4379976"/>
            <a:ext cx="50292" cy="566928"/>
          </a:xfrm>
          <a:prstGeom prst="rect">
            <a:avLst/>
          </a:prstGeom>
          <a:solidFill>
            <a:srgbClr val="075B85"/>
          </a:solidFill>
          <a:ln w="12700">
            <a:solidFill>
              <a:srgbClr val="333333"/>
            </a:solidFill>
            <a:prstDash val="solid"/>
          </a:ln>
        </p:spPr>
      </p:sp>
      <p:sp>
        <p:nvSpPr>
          <p:cNvPr id="21" name="Text 19"/>
          <p:cNvSpPr txBox="1"/>
          <p:nvPr/>
        </p:nvSpPr>
        <p:spPr>
          <a:xfrm>
            <a:off x="658368" y="4425696"/>
            <a:ext cx="7863840" cy="475488"/>
          </a:xfrm>
          <a:prstGeom prst="rect">
            <a:avLst/>
          </a:prstGeom>
          <a:noFill/>
          <a:ln/>
        </p:spPr>
        <p:txBody>
          <a:bodyPr wrap="square" lIns="0" tIns="0" rIns="0" bIns="0" rtlCol="0" anchor="ctr"/>
          <a:lstStyle/>
          <a:p>
            <a:pPr indent="0" marL="0">
              <a:buNone/>
            </a:pPr>
            <a:r>
              <a:rPr lang="en-US" sz="1250" dirty="0">
                <a:solidFill>
                  <a:srgbClr val="12263A"/>
                </a:solidFill>
                <a:latin typeface="Calibri" pitchFamily="34" charset="0"/>
                <a:ea typeface="Calibri" pitchFamily="34" charset="-122"/>
                <a:cs typeface="Calibri" pitchFamily="34" charset="-120"/>
              </a:rPr>
              <a:t>They point at calcium signalling and immunity, and replicate in two other studies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Finding 3: the networks say the same thing</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The second method reaches the same conclusion.</a:t>
            </a:r>
            <a:endParaRPr lang="en-US" sz="1100" dirty="0"/>
          </a:p>
        </p:txBody>
      </p:sp>
      <p:sp>
        <p:nvSpPr>
          <p:cNvPr id="4" name="Shape 2"/>
          <p:cNvSpPr/>
          <p:nvPr/>
        </p:nvSpPr>
        <p:spPr>
          <a:xfrm>
            <a:off x="411480" y="960120"/>
            <a:ext cx="2688336" cy="713232"/>
          </a:xfrm>
          <a:prstGeom prst="roundRect">
            <a:avLst>
              <a:gd name="adj" fmla="val 5128"/>
            </a:avLst>
          </a:prstGeom>
          <a:solidFill>
            <a:srgbClr val="075B85"/>
          </a:solidFill>
          <a:ln w="9525">
            <a:solidFill>
              <a:srgbClr val="075B85"/>
            </a:solidFill>
            <a:prstDash val="solid"/>
          </a:ln>
        </p:spPr>
      </p:sp>
      <p:sp>
        <p:nvSpPr>
          <p:cNvPr id="5" name="Text 3"/>
          <p:cNvSpPr txBox="1"/>
          <p:nvPr/>
        </p:nvSpPr>
        <p:spPr>
          <a:xfrm>
            <a:off x="411480" y="1005840"/>
            <a:ext cx="2688336"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27</a:t>
            </a:r>
            <a:endParaRPr lang="en-US" sz="1900" dirty="0"/>
          </a:p>
        </p:txBody>
      </p:sp>
      <p:sp>
        <p:nvSpPr>
          <p:cNvPr id="6" name="Text 4"/>
          <p:cNvSpPr txBox="1"/>
          <p:nvPr/>
        </p:nvSpPr>
        <p:spPr>
          <a:xfrm>
            <a:off x="411480" y="1371600"/>
            <a:ext cx="2688336"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modules found</a:t>
            </a:r>
            <a:endParaRPr lang="en-US" sz="1000" dirty="0"/>
          </a:p>
        </p:txBody>
      </p:sp>
      <p:sp>
        <p:nvSpPr>
          <p:cNvPr id="7" name="Shape 5"/>
          <p:cNvSpPr/>
          <p:nvPr/>
        </p:nvSpPr>
        <p:spPr>
          <a:xfrm>
            <a:off x="3227832" y="960120"/>
            <a:ext cx="2688336" cy="713232"/>
          </a:xfrm>
          <a:prstGeom prst="roundRect">
            <a:avLst>
              <a:gd name="adj" fmla="val 5128"/>
            </a:avLst>
          </a:prstGeom>
          <a:solidFill>
            <a:srgbClr val="075B85"/>
          </a:solidFill>
          <a:ln w="9525">
            <a:solidFill>
              <a:srgbClr val="075B85"/>
            </a:solidFill>
            <a:prstDash val="solid"/>
          </a:ln>
        </p:spPr>
      </p:sp>
      <p:sp>
        <p:nvSpPr>
          <p:cNvPr id="8" name="Text 6"/>
          <p:cNvSpPr txBox="1"/>
          <p:nvPr/>
        </p:nvSpPr>
        <p:spPr>
          <a:xfrm>
            <a:off x="3227832" y="1005840"/>
            <a:ext cx="2688336"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9" name="Text 7"/>
          <p:cNvSpPr txBox="1"/>
          <p:nvPr/>
        </p:nvSpPr>
        <p:spPr>
          <a:xfrm>
            <a:off x="3227832" y="1371600"/>
            <a:ext cx="2688336"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track lithium</a:t>
            </a:r>
            <a:endParaRPr lang="en-US" sz="1000" dirty="0"/>
          </a:p>
        </p:txBody>
      </p:sp>
      <p:sp>
        <p:nvSpPr>
          <p:cNvPr id="10" name="Shape 8"/>
          <p:cNvSpPr/>
          <p:nvPr/>
        </p:nvSpPr>
        <p:spPr>
          <a:xfrm>
            <a:off x="6044184" y="960120"/>
            <a:ext cx="2688336" cy="713232"/>
          </a:xfrm>
          <a:prstGeom prst="roundRect">
            <a:avLst>
              <a:gd name="adj" fmla="val 5128"/>
            </a:avLst>
          </a:prstGeom>
          <a:solidFill>
            <a:srgbClr val="075B85"/>
          </a:solidFill>
          <a:ln w="9525">
            <a:solidFill>
              <a:srgbClr val="075B85"/>
            </a:solidFill>
            <a:prstDash val="solid"/>
          </a:ln>
        </p:spPr>
      </p:sp>
      <p:sp>
        <p:nvSpPr>
          <p:cNvPr id="11" name="Text 9"/>
          <p:cNvSpPr txBox="1"/>
          <p:nvPr/>
        </p:nvSpPr>
        <p:spPr>
          <a:xfrm>
            <a:off x="6044184" y="1005840"/>
            <a:ext cx="2688336" cy="329184"/>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0</a:t>
            </a:r>
            <a:endParaRPr lang="en-US" sz="1900" dirty="0"/>
          </a:p>
        </p:txBody>
      </p:sp>
      <p:sp>
        <p:nvSpPr>
          <p:cNvPr id="12" name="Text 10"/>
          <p:cNvSpPr txBox="1"/>
          <p:nvPr/>
        </p:nvSpPr>
        <p:spPr>
          <a:xfrm>
            <a:off x="6044184" y="1371600"/>
            <a:ext cx="2688336" cy="237744"/>
          </a:xfrm>
          <a:prstGeom prst="rect">
            <a:avLst/>
          </a:prstGeom>
          <a:noFill/>
          <a:ln/>
        </p:spPr>
        <p:txBody>
          <a:bodyPr wrap="square" lIns="0" tIns="0" rIns="0" bIns="0" rtlCol="0" anchor="ctr"/>
          <a:lstStyle/>
          <a:p>
            <a:pPr algn="ctr" indent="0" marL="0">
              <a:buNone/>
            </a:pPr>
            <a:r>
              <a:rPr lang="en-US" sz="1000" dirty="0">
                <a:solidFill>
                  <a:srgbClr val="CFE0EE"/>
                </a:solidFill>
                <a:latin typeface="Calibri" pitchFamily="34" charset="0"/>
                <a:ea typeface="Calibri" pitchFamily="34" charset="-122"/>
                <a:cs typeface="Calibri" pitchFamily="34" charset="-120"/>
              </a:rPr>
              <a:t>track the illness</a:t>
            </a:r>
            <a:endParaRPr lang="en-US" sz="1000" dirty="0"/>
          </a:p>
        </p:txBody>
      </p:sp>
      <p:sp>
        <p:nvSpPr>
          <p:cNvPr id="13" name="Shape 11"/>
          <p:cNvSpPr/>
          <p:nvPr/>
        </p:nvSpPr>
        <p:spPr>
          <a:xfrm>
            <a:off x="411480" y="1920240"/>
            <a:ext cx="8321040" cy="713232"/>
          </a:xfrm>
          <a:prstGeom prst="roundRect">
            <a:avLst>
              <a:gd name="adj" fmla="val 5128"/>
            </a:avLst>
          </a:prstGeom>
          <a:solidFill>
            <a:srgbClr val="F2F5F8"/>
          </a:solidFill>
          <a:ln w="9525">
            <a:solidFill>
              <a:srgbClr val="DCE3E9"/>
            </a:solidFill>
            <a:prstDash val="solid"/>
          </a:ln>
        </p:spPr>
      </p:sp>
      <p:sp>
        <p:nvSpPr>
          <p:cNvPr id="14" name="Shape 12"/>
          <p:cNvSpPr/>
          <p:nvPr/>
        </p:nvSpPr>
        <p:spPr>
          <a:xfrm>
            <a:off x="411480" y="1920240"/>
            <a:ext cx="50292" cy="713232"/>
          </a:xfrm>
          <a:prstGeom prst="rect">
            <a:avLst/>
          </a:prstGeom>
          <a:solidFill>
            <a:srgbClr val="075B85"/>
          </a:solidFill>
          <a:ln w="12700">
            <a:solidFill>
              <a:srgbClr val="333333"/>
            </a:solidFill>
            <a:prstDash val="solid"/>
          </a:ln>
        </p:spPr>
      </p:sp>
      <p:sp>
        <p:nvSpPr>
          <p:cNvPr id="15" name="Text 13"/>
          <p:cNvSpPr txBox="1"/>
          <p:nvPr/>
        </p:nvSpPr>
        <p:spPr>
          <a:xfrm>
            <a:off x="658368" y="1965960"/>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biggest module has 2,092 genes, and 431 of them are lithium genes</a:t>
            </a:r>
            <a:endParaRPr lang="en-US" sz="1350" dirty="0"/>
          </a:p>
        </p:txBody>
      </p:sp>
      <p:sp>
        <p:nvSpPr>
          <p:cNvPr id="16" name="Shape 14"/>
          <p:cNvSpPr/>
          <p:nvPr/>
        </p:nvSpPr>
        <p:spPr>
          <a:xfrm>
            <a:off x="411480" y="2770632"/>
            <a:ext cx="8321040" cy="713232"/>
          </a:xfrm>
          <a:prstGeom prst="roundRect">
            <a:avLst>
              <a:gd name="adj" fmla="val 5128"/>
            </a:avLst>
          </a:prstGeom>
          <a:solidFill>
            <a:srgbClr val="F2F5F8"/>
          </a:solidFill>
          <a:ln w="9525">
            <a:solidFill>
              <a:srgbClr val="DCE3E9"/>
            </a:solidFill>
            <a:prstDash val="solid"/>
          </a:ln>
        </p:spPr>
      </p:sp>
      <p:sp>
        <p:nvSpPr>
          <p:cNvPr id="17" name="Shape 15"/>
          <p:cNvSpPr/>
          <p:nvPr/>
        </p:nvSpPr>
        <p:spPr>
          <a:xfrm>
            <a:off x="411480" y="2770632"/>
            <a:ext cx="50292" cy="713232"/>
          </a:xfrm>
          <a:prstGeom prst="rect">
            <a:avLst/>
          </a:prstGeom>
          <a:solidFill>
            <a:srgbClr val="075B85"/>
          </a:solidFill>
          <a:ln w="12700">
            <a:solidFill>
              <a:srgbClr val="333333"/>
            </a:solidFill>
            <a:prstDash val="solid"/>
          </a:ln>
        </p:spPr>
      </p:sp>
      <p:sp>
        <p:nvSpPr>
          <p:cNvPr id="18" name="Text 16"/>
          <p:cNvSpPr txBox="1"/>
          <p:nvPr/>
        </p:nvSpPr>
        <p:spPr>
          <a:xfrm>
            <a:off x="658368" y="2816352"/>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No module tracked illness, or age, or sex, or any technical variable</a:t>
            </a:r>
            <a:endParaRPr lang="en-US" sz="1350" dirty="0"/>
          </a:p>
        </p:txBody>
      </p:sp>
      <p:sp>
        <p:nvSpPr>
          <p:cNvPr id="19" name="Shape 17"/>
          <p:cNvSpPr/>
          <p:nvPr/>
        </p:nvSpPr>
        <p:spPr>
          <a:xfrm>
            <a:off x="411480" y="3621024"/>
            <a:ext cx="8321040" cy="713232"/>
          </a:xfrm>
          <a:prstGeom prst="roundRect">
            <a:avLst>
              <a:gd name="adj" fmla="val 5128"/>
            </a:avLst>
          </a:prstGeom>
          <a:solidFill>
            <a:srgbClr val="F2F5F8"/>
          </a:solidFill>
          <a:ln w="9525">
            <a:solidFill>
              <a:srgbClr val="DCE3E9"/>
            </a:solidFill>
            <a:prstDash val="solid"/>
          </a:ln>
        </p:spPr>
      </p:sp>
      <p:sp>
        <p:nvSpPr>
          <p:cNvPr id="20" name="Shape 18"/>
          <p:cNvSpPr/>
          <p:nvPr/>
        </p:nvSpPr>
        <p:spPr>
          <a:xfrm>
            <a:off x="411480" y="3621024"/>
            <a:ext cx="50292" cy="713232"/>
          </a:xfrm>
          <a:prstGeom prst="rect">
            <a:avLst/>
          </a:prstGeom>
          <a:solidFill>
            <a:srgbClr val="075B85"/>
          </a:solidFill>
          <a:ln w="12700">
            <a:solidFill>
              <a:srgbClr val="333333"/>
            </a:solidFill>
            <a:prstDash val="solid"/>
          </a:ln>
        </p:spPr>
      </p:sp>
      <p:sp>
        <p:nvSpPr>
          <p:cNvPr id="21" name="Text 19"/>
          <p:cNvSpPr txBox="1"/>
          <p:nvPr/>
        </p:nvSpPr>
        <p:spPr>
          <a:xfrm>
            <a:off x="658368" y="3666744"/>
            <a:ext cx="7863840" cy="621792"/>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Network structure was fully preserved between groups — they found no rewiring</a:t>
            </a:r>
            <a:endParaRPr lang="en-US" sz="1350" dirty="0"/>
          </a:p>
        </p:txBody>
      </p:sp>
      <p:sp>
        <p:nvSpPr>
          <p:cNvPr id="22" name="Text 20"/>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The last line is a published null result that our own network arm will be testing against.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Finding 4: most of it is the cell mixture</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The finding our project is built on.</a:t>
            </a:r>
            <a:endParaRPr lang="en-US" sz="1100" dirty="0"/>
          </a:p>
        </p:txBody>
      </p:sp>
      <p:sp>
        <p:nvSpPr>
          <p:cNvPr id="4" name="Shape 2"/>
          <p:cNvSpPr/>
          <p:nvPr/>
        </p:nvSpPr>
        <p:spPr>
          <a:xfrm>
            <a:off x="411480" y="932688"/>
            <a:ext cx="8321040" cy="658368"/>
          </a:xfrm>
          <a:prstGeom prst="roundRect">
            <a:avLst>
              <a:gd name="adj" fmla="val 5556"/>
            </a:avLst>
          </a:prstGeom>
          <a:solidFill>
            <a:srgbClr val="F2F5F8"/>
          </a:solidFill>
          <a:ln w="9525">
            <a:solidFill>
              <a:srgbClr val="DCE3E9"/>
            </a:solidFill>
            <a:prstDash val="solid"/>
          </a:ln>
        </p:spPr>
      </p:sp>
      <p:sp>
        <p:nvSpPr>
          <p:cNvPr id="5" name="Shape 3"/>
          <p:cNvSpPr/>
          <p:nvPr/>
        </p:nvSpPr>
        <p:spPr>
          <a:xfrm>
            <a:off x="411480" y="932688"/>
            <a:ext cx="50292" cy="658368"/>
          </a:xfrm>
          <a:prstGeom prst="rect">
            <a:avLst/>
          </a:prstGeom>
          <a:solidFill>
            <a:srgbClr val="075B85"/>
          </a:solidFill>
          <a:ln w="12700">
            <a:solidFill>
              <a:srgbClr val="333333"/>
            </a:solidFill>
            <a:prstDash val="solid"/>
          </a:ln>
        </p:spPr>
      </p:sp>
      <p:sp>
        <p:nvSpPr>
          <p:cNvPr id="6" name="Text 4"/>
          <p:cNvSpPr txBox="1"/>
          <p:nvPr/>
        </p:nvSpPr>
        <p:spPr>
          <a:xfrm>
            <a:off x="658368" y="978408"/>
            <a:ext cx="7863840" cy="566928"/>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Of the 22 cell types, only neutrophils predicted lithium use, and they were raised in users</a:t>
            </a:r>
            <a:endParaRPr lang="en-US" sz="1350" dirty="0"/>
          </a:p>
        </p:txBody>
      </p:sp>
      <p:sp>
        <p:nvSpPr>
          <p:cNvPr id="7" name="Shape 5"/>
          <p:cNvSpPr/>
          <p:nvPr/>
        </p:nvSpPr>
        <p:spPr>
          <a:xfrm>
            <a:off x="411480" y="1728216"/>
            <a:ext cx="8321040" cy="658368"/>
          </a:xfrm>
          <a:prstGeom prst="roundRect">
            <a:avLst>
              <a:gd name="adj" fmla="val 5556"/>
            </a:avLst>
          </a:prstGeom>
          <a:solidFill>
            <a:srgbClr val="F2F5F8"/>
          </a:solidFill>
          <a:ln w="9525">
            <a:solidFill>
              <a:srgbClr val="DCE3E9"/>
            </a:solidFill>
            <a:prstDash val="solid"/>
          </a:ln>
        </p:spPr>
      </p:sp>
      <p:sp>
        <p:nvSpPr>
          <p:cNvPr id="8" name="Shape 6"/>
          <p:cNvSpPr/>
          <p:nvPr/>
        </p:nvSpPr>
        <p:spPr>
          <a:xfrm>
            <a:off x="411480" y="1728216"/>
            <a:ext cx="50292" cy="658368"/>
          </a:xfrm>
          <a:prstGeom prst="rect">
            <a:avLst/>
          </a:prstGeom>
          <a:solidFill>
            <a:srgbClr val="075B85"/>
          </a:solidFill>
          <a:ln w="12700">
            <a:solidFill>
              <a:srgbClr val="333333"/>
            </a:solidFill>
            <a:prstDash val="solid"/>
          </a:ln>
        </p:spPr>
      </p:sp>
      <p:sp>
        <p:nvSpPr>
          <p:cNvPr id="9" name="Text 7"/>
          <p:cNvSpPr txBox="1"/>
          <p:nvPr/>
        </p:nvSpPr>
        <p:spPr>
          <a:xfrm>
            <a:off x="658368" y="1773936"/>
            <a:ext cx="7863840" cy="566928"/>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biggest lithium module turned out to be full of neutrophil marker genes</a:t>
            </a:r>
            <a:endParaRPr lang="en-US" sz="1350" dirty="0"/>
          </a:p>
        </p:txBody>
      </p:sp>
      <p:sp>
        <p:nvSpPr>
          <p:cNvPr id="10" name="Shape 8"/>
          <p:cNvSpPr/>
          <p:nvPr/>
        </p:nvSpPr>
        <p:spPr>
          <a:xfrm>
            <a:off x="411480" y="2340864"/>
            <a:ext cx="8321040" cy="804672"/>
          </a:xfrm>
          <a:prstGeom prst="roundRect">
            <a:avLst>
              <a:gd name="adj" fmla="val 4545"/>
            </a:avLst>
          </a:prstGeom>
          <a:solidFill>
            <a:srgbClr val="12263A"/>
          </a:solidFill>
          <a:ln w="9525">
            <a:solidFill>
              <a:srgbClr val="12263A"/>
            </a:solidFill>
            <a:prstDash val="solid"/>
          </a:ln>
        </p:spPr>
      </p:sp>
      <p:sp>
        <p:nvSpPr>
          <p:cNvPr id="11" name="Text 9"/>
          <p:cNvSpPr txBox="1"/>
          <p:nvPr/>
        </p:nvSpPr>
        <p:spPr>
          <a:xfrm>
            <a:off x="621792" y="2414016"/>
            <a:ext cx="3291840" cy="256032"/>
          </a:xfrm>
          <a:prstGeom prst="rect">
            <a:avLst/>
          </a:prstGeom>
          <a:noFill/>
          <a:ln/>
        </p:spPr>
        <p:txBody>
          <a:bodyPr wrap="square" lIns="0" tIns="0" rIns="0" bIns="0" rtlCol="0" anchor="ctr"/>
          <a:lstStyle/>
          <a:p>
            <a:pPr indent="0" marL="0">
              <a:buNone/>
            </a:pPr>
            <a:r>
              <a:rPr lang="en-US" sz="1200" b="1" dirty="0">
                <a:solidFill>
                  <a:srgbClr val="94A3AD"/>
                </a:solidFill>
                <a:latin typeface="Calibri" pitchFamily="34" charset="0"/>
                <a:ea typeface="Calibri" pitchFamily="34" charset="-122"/>
                <a:cs typeface="Calibri" pitchFamily="34" charset="-120"/>
              </a:rPr>
              <a:t>Add the cell mixture to the model</a:t>
            </a:r>
            <a:endParaRPr lang="en-US" sz="1200" dirty="0"/>
          </a:p>
        </p:txBody>
      </p:sp>
      <p:sp>
        <p:nvSpPr>
          <p:cNvPr id="12" name="Text 10"/>
          <p:cNvSpPr txBox="1"/>
          <p:nvPr/>
        </p:nvSpPr>
        <p:spPr>
          <a:xfrm>
            <a:off x="621792" y="2706624"/>
            <a:ext cx="3840480" cy="31089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lithium  976 → 233</a:t>
            </a:r>
            <a:endParaRPr lang="en-US" sz="1800" dirty="0"/>
          </a:p>
        </p:txBody>
      </p:sp>
      <p:sp>
        <p:nvSpPr>
          <p:cNvPr id="13" name="Text 11"/>
          <p:cNvSpPr txBox="1"/>
          <p:nvPr/>
        </p:nvSpPr>
        <p:spPr>
          <a:xfrm>
            <a:off x="4937760" y="2706624"/>
            <a:ext cx="3657600" cy="310896"/>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illness  6 → 0</a:t>
            </a:r>
            <a:endParaRPr lang="en-US" sz="1800" dirty="0"/>
          </a:p>
        </p:txBody>
      </p:sp>
      <p:sp>
        <p:nvSpPr>
          <p:cNvPr id="14" name="Shape 12"/>
          <p:cNvSpPr/>
          <p:nvPr/>
        </p:nvSpPr>
        <p:spPr>
          <a:xfrm>
            <a:off x="411480" y="3255264"/>
            <a:ext cx="8321040" cy="749808"/>
          </a:xfrm>
          <a:prstGeom prst="roundRect">
            <a:avLst>
              <a:gd name="adj" fmla="val 4878"/>
            </a:avLst>
          </a:prstGeom>
          <a:solidFill>
            <a:srgbClr val="FBF0DE"/>
          </a:solidFill>
          <a:ln w="9525">
            <a:solidFill>
              <a:srgbClr val="B5701A"/>
            </a:solidFill>
            <a:prstDash val="solid"/>
          </a:ln>
        </p:spPr>
      </p:sp>
      <p:sp>
        <p:nvSpPr>
          <p:cNvPr id="15" name="Text 13"/>
          <p:cNvSpPr txBox="1"/>
          <p:nvPr/>
        </p:nvSpPr>
        <p:spPr>
          <a:xfrm>
            <a:off x="411480" y="3255264"/>
            <a:ext cx="8321040" cy="749808"/>
          </a:xfrm>
          <a:prstGeom prst="rect">
            <a:avLst/>
          </a:prstGeom>
          <a:noFill/>
          <a:ln/>
        </p:spPr>
        <p:txBody>
          <a:bodyPr wrap="square" lIns="0" tIns="0" rIns="0" bIns="0" rtlCol="0" anchor="ctr"/>
          <a:lstStyle/>
          <a:p>
            <a:pPr algn="ctr" indent="0" marL="0">
              <a:buNone/>
            </a:pPr>
            <a:r>
              <a:rPr lang="en-US" sz="1400" b="1" dirty="0">
                <a:solidFill>
                  <a:srgbClr val="B5701A"/>
                </a:solidFill>
                <a:latin typeface="Calibri" pitchFamily="34" charset="0"/>
                <a:ea typeface="Calibri" pitchFamily="34" charset="-122"/>
                <a:cs typeface="Calibri" pitchFamily="34" charset="-120"/>
              </a:rPr>
              <a:t>But counting genes is not the same as measuring how much runs through the cells.</a:t>
            </a:r>
            <a:endParaRPr lang="en-US" sz="1400" dirty="0"/>
          </a:p>
        </p:txBody>
      </p:sp>
      <p:sp>
        <p:nvSpPr>
          <p:cNvPr id="16" name="Text 14"/>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Our second arm replaces the gene count with a percentage and an error bar.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Finding 5: none of it is inherited risk</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Two lists of genes, and they do not overlap.</a:t>
            </a:r>
            <a:endParaRPr lang="en-US" sz="1100" dirty="0"/>
          </a:p>
        </p:txBody>
      </p:sp>
      <p:sp>
        <p:nvSpPr>
          <p:cNvPr id="4" name="Shape 2"/>
          <p:cNvSpPr/>
          <p:nvPr/>
        </p:nvSpPr>
        <p:spPr>
          <a:xfrm>
            <a:off x="411480" y="1005840"/>
            <a:ext cx="8321040" cy="694944"/>
          </a:xfrm>
          <a:prstGeom prst="roundRect">
            <a:avLst>
              <a:gd name="adj" fmla="val 5263"/>
            </a:avLst>
          </a:prstGeom>
          <a:solidFill>
            <a:srgbClr val="F2F5F8"/>
          </a:solidFill>
          <a:ln w="9525">
            <a:solidFill>
              <a:srgbClr val="DCE3E9"/>
            </a:solidFill>
            <a:prstDash val="solid"/>
          </a:ln>
        </p:spPr>
      </p:sp>
      <p:sp>
        <p:nvSpPr>
          <p:cNvPr id="5" name="Shape 3"/>
          <p:cNvSpPr/>
          <p:nvPr/>
        </p:nvSpPr>
        <p:spPr>
          <a:xfrm>
            <a:off x="411480" y="1005840"/>
            <a:ext cx="50292" cy="694944"/>
          </a:xfrm>
          <a:prstGeom prst="rect">
            <a:avLst/>
          </a:prstGeom>
          <a:solidFill>
            <a:srgbClr val="075B85"/>
          </a:solidFill>
          <a:ln w="12700">
            <a:solidFill>
              <a:srgbClr val="333333"/>
            </a:solidFill>
            <a:prstDash val="solid"/>
          </a:ln>
        </p:spPr>
      </p:sp>
      <p:sp>
        <p:nvSpPr>
          <p:cNvPr id="6" name="Text 4"/>
          <p:cNvSpPr txBox="1"/>
          <p:nvPr/>
        </p:nvSpPr>
        <p:spPr>
          <a:xfrm>
            <a:off x="658368" y="1051560"/>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List A: genes whose activity differs, measured in this study's blood samples</a:t>
            </a:r>
            <a:endParaRPr lang="en-US" sz="1350" dirty="0"/>
          </a:p>
        </p:txBody>
      </p:sp>
      <p:sp>
        <p:nvSpPr>
          <p:cNvPr id="7" name="Shape 5"/>
          <p:cNvSpPr/>
          <p:nvPr/>
        </p:nvSpPr>
        <p:spPr>
          <a:xfrm>
            <a:off x="411480" y="1837944"/>
            <a:ext cx="8321040" cy="694944"/>
          </a:xfrm>
          <a:prstGeom prst="roundRect">
            <a:avLst>
              <a:gd name="adj" fmla="val 5263"/>
            </a:avLst>
          </a:prstGeom>
          <a:solidFill>
            <a:srgbClr val="F2F5F8"/>
          </a:solidFill>
          <a:ln w="9525">
            <a:solidFill>
              <a:srgbClr val="DCE3E9"/>
            </a:solidFill>
            <a:prstDash val="solid"/>
          </a:ln>
        </p:spPr>
      </p:sp>
      <p:sp>
        <p:nvSpPr>
          <p:cNvPr id="8" name="Shape 6"/>
          <p:cNvSpPr/>
          <p:nvPr/>
        </p:nvSpPr>
        <p:spPr>
          <a:xfrm>
            <a:off x="411480" y="1837944"/>
            <a:ext cx="50292" cy="694944"/>
          </a:xfrm>
          <a:prstGeom prst="rect">
            <a:avLst/>
          </a:prstGeom>
          <a:solidFill>
            <a:srgbClr val="075B85"/>
          </a:solidFill>
          <a:ln w="12700">
            <a:solidFill>
              <a:srgbClr val="333333"/>
            </a:solidFill>
            <a:prstDash val="solid"/>
          </a:ln>
        </p:spPr>
      </p:sp>
      <p:sp>
        <p:nvSpPr>
          <p:cNvPr id="9" name="Text 7"/>
          <p:cNvSpPr txBox="1"/>
          <p:nvPr/>
        </p:nvSpPr>
        <p:spPr>
          <a:xfrm>
            <a:off x="658368" y="1883664"/>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List B: genes where inherited DNA variants raise the risk of bipolar disorder</a:t>
            </a:r>
            <a:endParaRPr lang="en-US" sz="1350" dirty="0"/>
          </a:p>
        </p:txBody>
      </p:sp>
      <p:sp>
        <p:nvSpPr>
          <p:cNvPr id="10" name="Shape 8"/>
          <p:cNvSpPr/>
          <p:nvPr/>
        </p:nvSpPr>
        <p:spPr>
          <a:xfrm>
            <a:off x="411480" y="2670048"/>
            <a:ext cx="8321040" cy="694944"/>
          </a:xfrm>
          <a:prstGeom prst="roundRect">
            <a:avLst>
              <a:gd name="adj" fmla="val 5263"/>
            </a:avLst>
          </a:prstGeom>
          <a:solidFill>
            <a:srgbClr val="F2F5F8"/>
          </a:solidFill>
          <a:ln w="9525">
            <a:solidFill>
              <a:srgbClr val="DCE3E9"/>
            </a:solidFill>
            <a:prstDash val="solid"/>
          </a:ln>
        </p:spPr>
      </p:sp>
      <p:sp>
        <p:nvSpPr>
          <p:cNvPr id="11" name="Shape 9"/>
          <p:cNvSpPr/>
          <p:nvPr/>
        </p:nvSpPr>
        <p:spPr>
          <a:xfrm>
            <a:off x="411480" y="2670048"/>
            <a:ext cx="50292" cy="694944"/>
          </a:xfrm>
          <a:prstGeom prst="rect">
            <a:avLst/>
          </a:prstGeom>
          <a:solidFill>
            <a:srgbClr val="075B85"/>
          </a:solidFill>
          <a:ln w="12700">
            <a:solidFill>
              <a:srgbClr val="333333"/>
            </a:solidFill>
            <a:prstDash val="solid"/>
          </a:ln>
        </p:spPr>
      </p:sp>
      <p:sp>
        <p:nvSpPr>
          <p:cNvPr id="12" name="Text 10"/>
          <p:cNvSpPr txBox="1"/>
          <p:nvPr/>
        </p:nvSpPr>
        <p:spPr>
          <a:xfrm>
            <a:off x="658368" y="2715768"/>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No overlap, for either the lithium genes or the illness genes</a:t>
            </a:r>
            <a:endParaRPr lang="en-US" sz="1350" dirty="0"/>
          </a:p>
        </p:txBody>
      </p:sp>
      <p:sp>
        <p:nvSpPr>
          <p:cNvPr id="13" name="Shape 11"/>
          <p:cNvSpPr/>
          <p:nvPr/>
        </p:nvSpPr>
        <p:spPr>
          <a:xfrm>
            <a:off x="411480" y="3502152"/>
            <a:ext cx="8321040" cy="694944"/>
          </a:xfrm>
          <a:prstGeom prst="roundRect">
            <a:avLst>
              <a:gd name="adj" fmla="val 5263"/>
            </a:avLst>
          </a:prstGeom>
          <a:solidFill>
            <a:srgbClr val="F2F5F8"/>
          </a:solidFill>
          <a:ln w="9525">
            <a:solidFill>
              <a:srgbClr val="DCE3E9"/>
            </a:solidFill>
            <a:prstDash val="solid"/>
          </a:ln>
        </p:spPr>
      </p:sp>
      <p:sp>
        <p:nvSpPr>
          <p:cNvPr id="14" name="Shape 12"/>
          <p:cNvSpPr/>
          <p:nvPr/>
        </p:nvSpPr>
        <p:spPr>
          <a:xfrm>
            <a:off x="411480" y="3502152"/>
            <a:ext cx="50292" cy="694944"/>
          </a:xfrm>
          <a:prstGeom prst="rect">
            <a:avLst/>
          </a:prstGeom>
          <a:solidFill>
            <a:srgbClr val="075B85"/>
          </a:solidFill>
          <a:ln w="12700">
            <a:solidFill>
              <a:srgbClr val="333333"/>
            </a:solidFill>
            <a:prstDash val="solid"/>
          </a:ln>
        </p:spPr>
      </p:sp>
      <p:sp>
        <p:nvSpPr>
          <p:cNvPr id="15" name="Text 13"/>
          <p:cNvSpPr txBox="1"/>
          <p:nvPr/>
        </p:nvSpPr>
        <p:spPr>
          <a:xfrm>
            <a:off x="658368" y="3547872"/>
            <a:ext cx="7863840" cy="603504"/>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fake list came back highly significant; the random list came back null</a:t>
            </a:r>
            <a:endParaRPr lang="en-US" sz="1350" dirty="0"/>
          </a:p>
        </p:txBody>
      </p:sp>
      <p:sp>
        <p:nvSpPr>
          <p:cNvPr id="16" name="Text 14"/>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So the lithium genes are the drug's footprint, not a marker of who develops the illness.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What the authors admit themselves</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Several of our criticisms are ones they raise first.</a:t>
            </a:r>
            <a:endParaRPr lang="en-US" sz="1100" dirty="0"/>
          </a:p>
        </p:txBody>
      </p:sp>
      <p:sp>
        <p:nvSpPr>
          <p:cNvPr id="4" name="Shape 2"/>
          <p:cNvSpPr/>
          <p:nvPr/>
        </p:nvSpPr>
        <p:spPr>
          <a:xfrm>
            <a:off x="411480" y="1005840"/>
            <a:ext cx="8321040" cy="621792"/>
          </a:xfrm>
          <a:prstGeom prst="roundRect">
            <a:avLst>
              <a:gd name="adj" fmla="val 5882"/>
            </a:avLst>
          </a:prstGeom>
          <a:solidFill>
            <a:srgbClr val="E6F2F1"/>
          </a:solidFill>
          <a:ln w="9525">
            <a:solidFill>
              <a:srgbClr val="0F6F6C"/>
            </a:solidFill>
            <a:prstDash val="solid"/>
          </a:ln>
        </p:spPr>
      </p:sp>
      <p:sp>
        <p:nvSpPr>
          <p:cNvPr id="5" name="Text 3"/>
          <p:cNvSpPr txBox="1"/>
          <p:nvPr/>
        </p:nvSpPr>
        <p:spPr>
          <a:xfrm>
            <a:off x="658368" y="1042416"/>
            <a:ext cx="7863840" cy="548640"/>
          </a:xfrm>
          <a:prstGeom prst="rect">
            <a:avLst/>
          </a:prstGeom>
          <a:noFill/>
          <a:ln/>
        </p:spPr>
        <p:txBody>
          <a:bodyPr wrap="square" lIns="0" tIns="0" rIns="0" bIns="0" rtlCol="0" anchor="ctr"/>
          <a:lstStyle/>
          <a:p>
            <a:pPr indent="0" marL="0">
              <a:buNone/>
            </a:pPr>
            <a:r>
              <a:rPr lang="en-US" sz="1350" i="1" dirty="0">
                <a:solidFill>
                  <a:srgbClr val="0F6F6C"/>
                </a:solidFill>
                <a:latin typeface="Calibri" pitchFamily="34" charset="0"/>
                <a:ea typeface="Calibri" pitchFamily="34" charset="-122"/>
                <a:cs typeface="Calibri" pitchFamily="34" charset="-120"/>
              </a:rPr>
              <a:t>“Not intended to measure the effects of lithium on gene expression.”</a:t>
            </a:r>
            <a:endParaRPr lang="en-US" sz="1350" dirty="0"/>
          </a:p>
        </p:txBody>
      </p:sp>
      <p:sp>
        <p:nvSpPr>
          <p:cNvPr id="6" name="Shape 4"/>
          <p:cNvSpPr/>
          <p:nvPr/>
        </p:nvSpPr>
        <p:spPr>
          <a:xfrm>
            <a:off x="411480" y="1755648"/>
            <a:ext cx="8321040" cy="621792"/>
          </a:xfrm>
          <a:prstGeom prst="roundRect">
            <a:avLst>
              <a:gd name="adj" fmla="val 5882"/>
            </a:avLst>
          </a:prstGeom>
          <a:solidFill>
            <a:srgbClr val="E6F2F1"/>
          </a:solidFill>
          <a:ln w="9525">
            <a:solidFill>
              <a:srgbClr val="0F6F6C"/>
            </a:solidFill>
            <a:prstDash val="solid"/>
          </a:ln>
        </p:spPr>
      </p:sp>
      <p:sp>
        <p:nvSpPr>
          <p:cNvPr id="7" name="Text 5"/>
          <p:cNvSpPr txBox="1"/>
          <p:nvPr/>
        </p:nvSpPr>
        <p:spPr>
          <a:xfrm>
            <a:off x="658368" y="1792224"/>
            <a:ext cx="7863840" cy="548640"/>
          </a:xfrm>
          <a:prstGeom prst="rect">
            <a:avLst/>
          </a:prstGeom>
          <a:noFill/>
          <a:ln/>
        </p:spPr>
        <p:txBody>
          <a:bodyPr wrap="square" lIns="0" tIns="0" rIns="0" bIns="0" rtlCol="0" anchor="ctr"/>
          <a:lstStyle/>
          <a:p>
            <a:pPr indent="0" marL="0">
              <a:buNone/>
            </a:pPr>
            <a:r>
              <a:rPr lang="en-US" sz="1350" i="1" dirty="0">
                <a:solidFill>
                  <a:srgbClr val="0F6F6C"/>
                </a:solidFill>
                <a:latin typeface="Calibri" pitchFamily="34" charset="0"/>
                <a:ea typeface="Calibri" pitchFamily="34" charset="-122"/>
                <a:cs typeface="Calibri" pitchFamily="34" charset="-120"/>
              </a:rPr>
              <a:t>“A lithium-naive study design is warranted.”</a:t>
            </a:r>
            <a:endParaRPr lang="en-US" sz="1350" dirty="0"/>
          </a:p>
        </p:txBody>
      </p:sp>
      <p:sp>
        <p:nvSpPr>
          <p:cNvPr id="8" name="Shape 6"/>
          <p:cNvSpPr/>
          <p:nvPr/>
        </p:nvSpPr>
        <p:spPr>
          <a:xfrm>
            <a:off x="411480" y="2505456"/>
            <a:ext cx="8321040" cy="621792"/>
          </a:xfrm>
          <a:prstGeom prst="roundRect">
            <a:avLst>
              <a:gd name="adj" fmla="val 5882"/>
            </a:avLst>
          </a:prstGeom>
          <a:solidFill>
            <a:srgbClr val="E6F2F1"/>
          </a:solidFill>
          <a:ln w="9525">
            <a:solidFill>
              <a:srgbClr val="0F6F6C"/>
            </a:solidFill>
            <a:prstDash val="solid"/>
          </a:ln>
        </p:spPr>
      </p:sp>
      <p:sp>
        <p:nvSpPr>
          <p:cNvPr id="9" name="Text 7"/>
          <p:cNvSpPr txBox="1"/>
          <p:nvPr/>
        </p:nvSpPr>
        <p:spPr>
          <a:xfrm>
            <a:off x="658368" y="2542032"/>
            <a:ext cx="7863840" cy="548640"/>
          </a:xfrm>
          <a:prstGeom prst="rect">
            <a:avLst/>
          </a:prstGeom>
          <a:noFill/>
          <a:ln/>
        </p:spPr>
        <p:txBody>
          <a:bodyPr wrap="square" lIns="0" tIns="0" rIns="0" bIns="0" rtlCol="0" anchor="ctr"/>
          <a:lstStyle/>
          <a:p>
            <a:pPr indent="0" marL="0">
              <a:buNone/>
            </a:pPr>
            <a:r>
              <a:rPr lang="en-US" sz="1350" i="1" dirty="0">
                <a:solidFill>
                  <a:srgbClr val="0F6F6C"/>
                </a:solidFill>
                <a:latin typeface="Calibri" pitchFamily="34" charset="0"/>
                <a:ea typeface="Calibri" pitchFamily="34" charset="-122"/>
                <a:cs typeface="Calibri" pitchFamily="34" charset="-120"/>
              </a:rPr>
              <a:t>Lithium use “is a confounder by indication and likely eliminated most of the observable BD effects.”</a:t>
            </a:r>
            <a:endParaRPr lang="en-US" sz="1350" dirty="0"/>
          </a:p>
        </p:txBody>
      </p:sp>
      <p:sp>
        <p:nvSpPr>
          <p:cNvPr id="10" name="Shape 8"/>
          <p:cNvSpPr/>
          <p:nvPr/>
        </p:nvSpPr>
        <p:spPr>
          <a:xfrm>
            <a:off x="411480" y="3255264"/>
            <a:ext cx="8321040" cy="621792"/>
          </a:xfrm>
          <a:prstGeom prst="roundRect">
            <a:avLst>
              <a:gd name="adj" fmla="val 5882"/>
            </a:avLst>
          </a:prstGeom>
          <a:solidFill>
            <a:srgbClr val="E6F2F1"/>
          </a:solidFill>
          <a:ln w="9525">
            <a:solidFill>
              <a:srgbClr val="0F6F6C"/>
            </a:solidFill>
            <a:prstDash val="solid"/>
          </a:ln>
        </p:spPr>
      </p:sp>
      <p:sp>
        <p:nvSpPr>
          <p:cNvPr id="11" name="Text 9"/>
          <p:cNvSpPr txBox="1"/>
          <p:nvPr/>
        </p:nvSpPr>
        <p:spPr>
          <a:xfrm>
            <a:off x="658368" y="3291840"/>
            <a:ext cx="7863840" cy="548640"/>
          </a:xfrm>
          <a:prstGeom prst="rect">
            <a:avLst/>
          </a:prstGeom>
          <a:noFill/>
          <a:ln/>
        </p:spPr>
        <p:txBody>
          <a:bodyPr wrap="square" lIns="0" tIns="0" rIns="0" bIns="0" rtlCol="0" anchor="ctr"/>
          <a:lstStyle/>
          <a:p>
            <a:pPr indent="0" marL="0">
              <a:buNone/>
            </a:pPr>
            <a:r>
              <a:rPr lang="en-US" sz="1350" i="1" dirty="0">
                <a:solidFill>
                  <a:srgbClr val="0F6F6C"/>
                </a:solidFill>
                <a:latin typeface="Calibri" pitchFamily="34" charset="0"/>
                <a:ea typeface="Calibri" pitchFamily="34" charset="-122"/>
                <a:cs typeface="Calibri" pitchFamily="34" charset="-120"/>
              </a:rPr>
              <a:t>“Data about the use of antipsychotics was too sparse to be used.”</a:t>
            </a:r>
            <a:endParaRPr lang="en-US" sz="1350" dirty="0"/>
          </a:p>
        </p:txBody>
      </p:sp>
      <p:sp>
        <p:nvSpPr>
          <p:cNvPr id="12" name="Text 10"/>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Quoting these is stronger than criticising them for something already conceded.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What we would do differently</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Five things, each a choice they made rather than a limit of the data.</a:t>
            </a:r>
            <a:endParaRPr lang="en-US" sz="1100" dirty="0"/>
          </a:p>
        </p:txBody>
      </p:sp>
      <p:sp>
        <p:nvSpPr>
          <p:cNvPr id="4" name="Shape 2"/>
          <p:cNvSpPr/>
          <p:nvPr/>
        </p:nvSpPr>
        <p:spPr>
          <a:xfrm>
            <a:off x="411480" y="932688"/>
            <a:ext cx="8321040" cy="676656"/>
          </a:xfrm>
          <a:prstGeom prst="roundRect">
            <a:avLst>
              <a:gd name="adj" fmla="val 5405"/>
            </a:avLst>
          </a:prstGeom>
          <a:solidFill>
            <a:srgbClr val="F2F5F8"/>
          </a:solidFill>
          <a:ln w="9525">
            <a:solidFill>
              <a:srgbClr val="DCE3E9"/>
            </a:solidFill>
            <a:prstDash val="solid"/>
          </a:ln>
        </p:spPr>
      </p:sp>
      <p:sp>
        <p:nvSpPr>
          <p:cNvPr id="5" name="Shape 3"/>
          <p:cNvSpPr/>
          <p:nvPr/>
        </p:nvSpPr>
        <p:spPr>
          <a:xfrm>
            <a:off x="411480" y="932688"/>
            <a:ext cx="50292" cy="676656"/>
          </a:xfrm>
          <a:prstGeom prst="rect">
            <a:avLst/>
          </a:prstGeom>
          <a:solidFill>
            <a:srgbClr val="B5701A"/>
          </a:solidFill>
          <a:ln w="12700">
            <a:solidFill>
              <a:srgbClr val="333333"/>
            </a:solidFill>
            <a:prstDash val="solid"/>
          </a:ln>
        </p:spPr>
      </p:sp>
      <p:sp>
        <p:nvSpPr>
          <p:cNvPr id="6" name="Text 4"/>
          <p:cNvSpPr txBox="1"/>
          <p:nvPr/>
        </p:nvSpPr>
        <p:spPr>
          <a:xfrm>
            <a:off x="658368" y="978408"/>
            <a:ext cx="7863840" cy="585216"/>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lithium comparison includes 204 controls who could never have taken it</a:t>
            </a:r>
            <a:endParaRPr lang="en-US" sz="1350" dirty="0"/>
          </a:p>
        </p:txBody>
      </p:sp>
      <p:sp>
        <p:nvSpPr>
          <p:cNvPr id="7" name="Shape 5"/>
          <p:cNvSpPr/>
          <p:nvPr/>
        </p:nvSpPr>
        <p:spPr>
          <a:xfrm>
            <a:off x="411480" y="1746504"/>
            <a:ext cx="8321040" cy="676656"/>
          </a:xfrm>
          <a:prstGeom prst="roundRect">
            <a:avLst>
              <a:gd name="adj" fmla="val 5405"/>
            </a:avLst>
          </a:prstGeom>
          <a:solidFill>
            <a:srgbClr val="F2F5F8"/>
          </a:solidFill>
          <a:ln w="9525">
            <a:solidFill>
              <a:srgbClr val="DCE3E9"/>
            </a:solidFill>
            <a:prstDash val="solid"/>
          </a:ln>
        </p:spPr>
      </p:sp>
      <p:sp>
        <p:nvSpPr>
          <p:cNvPr id="8" name="Shape 6"/>
          <p:cNvSpPr/>
          <p:nvPr/>
        </p:nvSpPr>
        <p:spPr>
          <a:xfrm>
            <a:off x="411480" y="1746504"/>
            <a:ext cx="50292" cy="676656"/>
          </a:xfrm>
          <a:prstGeom prst="rect">
            <a:avLst/>
          </a:prstGeom>
          <a:solidFill>
            <a:srgbClr val="B5701A"/>
          </a:solidFill>
          <a:ln w="12700">
            <a:solidFill>
              <a:srgbClr val="333333"/>
            </a:solidFill>
            <a:prstDash val="solid"/>
          </a:ln>
        </p:spPr>
      </p:sp>
      <p:sp>
        <p:nvSpPr>
          <p:cNvPr id="9" name="Text 7"/>
          <p:cNvSpPr txBox="1"/>
          <p:nvPr/>
        </p:nvSpPr>
        <p:spPr>
          <a:xfrm>
            <a:off x="658368" y="1792224"/>
            <a:ext cx="7863840" cy="585216"/>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neutrophil result came from testing all 22 cell types and reporting the winner</a:t>
            </a:r>
            <a:endParaRPr lang="en-US" sz="1350" dirty="0"/>
          </a:p>
        </p:txBody>
      </p:sp>
      <p:sp>
        <p:nvSpPr>
          <p:cNvPr id="10" name="Shape 8"/>
          <p:cNvSpPr/>
          <p:nvPr/>
        </p:nvSpPr>
        <p:spPr>
          <a:xfrm>
            <a:off x="411480" y="2560320"/>
            <a:ext cx="8321040" cy="676656"/>
          </a:xfrm>
          <a:prstGeom prst="roundRect">
            <a:avLst>
              <a:gd name="adj" fmla="val 5405"/>
            </a:avLst>
          </a:prstGeom>
          <a:solidFill>
            <a:srgbClr val="F2F5F8"/>
          </a:solidFill>
          <a:ln w="9525">
            <a:solidFill>
              <a:srgbClr val="DCE3E9"/>
            </a:solidFill>
            <a:prstDash val="solid"/>
          </a:ln>
        </p:spPr>
      </p:sp>
      <p:sp>
        <p:nvSpPr>
          <p:cNvPr id="11" name="Shape 9"/>
          <p:cNvSpPr/>
          <p:nvPr/>
        </p:nvSpPr>
        <p:spPr>
          <a:xfrm>
            <a:off x="411480" y="2560320"/>
            <a:ext cx="50292" cy="676656"/>
          </a:xfrm>
          <a:prstGeom prst="rect">
            <a:avLst/>
          </a:prstGeom>
          <a:solidFill>
            <a:srgbClr val="B5701A"/>
          </a:solidFill>
          <a:ln w="12700">
            <a:solidFill>
              <a:srgbClr val="333333"/>
            </a:solidFill>
            <a:prstDash val="solid"/>
          </a:ln>
        </p:spPr>
      </p:sp>
      <p:sp>
        <p:nvSpPr>
          <p:cNvPr id="12" name="Text 10"/>
          <p:cNvSpPr txBox="1"/>
          <p:nvPr/>
        </p:nvSpPr>
        <p:spPr>
          <a:xfrm>
            <a:off x="658368" y="2606040"/>
            <a:ext cx="7863840" cy="585216"/>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 cell mixture is estimated from the same gene data it is then compared against</a:t>
            </a:r>
            <a:endParaRPr lang="en-US" sz="1350" dirty="0"/>
          </a:p>
        </p:txBody>
      </p:sp>
      <p:sp>
        <p:nvSpPr>
          <p:cNvPr id="13" name="Shape 11"/>
          <p:cNvSpPr/>
          <p:nvPr/>
        </p:nvSpPr>
        <p:spPr>
          <a:xfrm>
            <a:off x="411480" y="3374136"/>
            <a:ext cx="8321040" cy="676656"/>
          </a:xfrm>
          <a:prstGeom prst="roundRect">
            <a:avLst>
              <a:gd name="adj" fmla="val 5405"/>
            </a:avLst>
          </a:prstGeom>
          <a:solidFill>
            <a:srgbClr val="F2F5F8"/>
          </a:solidFill>
          <a:ln w="9525">
            <a:solidFill>
              <a:srgbClr val="DCE3E9"/>
            </a:solidFill>
            <a:prstDash val="solid"/>
          </a:ln>
        </p:spPr>
      </p:sp>
      <p:sp>
        <p:nvSpPr>
          <p:cNvPr id="14" name="Shape 12"/>
          <p:cNvSpPr/>
          <p:nvPr/>
        </p:nvSpPr>
        <p:spPr>
          <a:xfrm>
            <a:off x="411480" y="3374136"/>
            <a:ext cx="50292" cy="676656"/>
          </a:xfrm>
          <a:prstGeom prst="rect">
            <a:avLst/>
          </a:prstGeom>
          <a:solidFill>
            <a:srgbClr val="B5701A"/>
          </a:solidFill>
          <a:ln w="12700">
            <a:solidFill>
              <a:srgbClr val="333333"/>
            </a:solidFill>
            <a:prstDash val="solid"/>
          </a:ln>
        </p:spPr>
      </p:sp>
      <p:sp>
        <p:nvSpPr>
          <p:cNvPr id="15" name="Text 13"/>
          <p:cNvSpPr txBox="1"/>
          <p:nvPr/>
        </p:nvSpPr>
        <p:spPr>
          <a:xfrm>
            <a:off x="658368" y="3419856"/>
            <a:ext cx="7863840" cy="585216"/>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They never estimate how much runs through the cells, only how many genes survive</a:t>
            </a:r>
            <a:endParaRPr lang="en-US" sz="1350" dirty="0"/>
          </a:p>
        </p:txBody>
      </p:sp>
      <p:sp>
        <p:nvSpPr>
          <p:cNvPr id="16" name="Shape 14"/>
          <p:cNvSpPr/>
          <p:nvPr/>
        </p:nvSpPr>
        <p:spPr>
          <a:xfrm>
            <a:off x="411480" y="4187952"/>
            <a:ext cx="8321040" cy="676656"/>
          </a:xfrm>
          <a:prstGeom prst="roundRect">
            <a:avLst>
              <a:gd name="adj" fmla="val 5405"/>
            </a:avLst>
          </a:prstGeom>
          <a:solidFill>
            <a:srgbClr val="F2F5F8"/>
          </a:solidFill>
          <a:ln w="9525">
            <a:solidFill>
              <a:srgbClr val="DCE3E9"/>
            </a:solidFill>
            <a:prstDash val="solid"/>
          </a:ln>
        </p:spPr>
      </p:sp>
      <p:sp>
        <p:nvSpPr>
          <p:cNvPr id="17" name="Shape 15"/>
          <p:cNvSpPr/>
          <p:nvPr/>
        </p:nvSpPr>
        <p:spPr>
          <a:xfrm>
            <a:off x="411480" y="4187952"/>
            <a:ext cx="50292" cy="676656"/>
          </a:xfrm>
          <a:prstGeom prst="rect">
            <a:avLst/>
          </a:prstGeom>
          <a:solidFill>
            <a:srgbClr val="B5701A"/>
          </a:solidFill>
          <a:ln w="12700">
            <a:solidFill>
              <a:srgbClr val="333333"/>
            </a:solidFill>
            <a:prstDash val="solid"/>
          </a:ln>
        </p:spPr>
      </p:sp>
      <p:sp>
        <p:nvSpPr>
          <p:cNvPr id="18" name="Text 16"/>
          <p:cNvSpPr txBox="1"/>
          <p:nvPr/>
        </p:nvSpPr>
        <p:spPr>
          <a:xfrm>
            <a:off x="658368" y="4233672"/>
            <a:ext cx="7863840" cy="585216"/>
          </a:xfrm>
          <a:prstGeom prst="rect">
            <a:avLst/>
          </a:prstGeom>
          <a:noFill/>
          <a:ln/>
        </p:spPr>
        <p:txBody>
          <a:bodyPr wrap="square" lIns="0" tIns="0" rIns="0" bIns="0" rtlCol="0" anchor="ctr"/>
          <a:lstStyle/>
          <a:p>
            <a:pPr indent="0" marL="0">
              <a:buNone/>
            </a:pPr>
            <a:r>
              <a:rPr lang="en-US" sz="1350" dirty="0">
                <a:solidFill>
                  <a:srgbClr val="12263A"/>
                </a:solidFill>
                <a:latin typeface="Calibri" pitchFamily="34" charset="0"/>
                <a:ea typeface="Calibri" pitchFamily="34" charset="-122"/>
                <a:cs typeface="Calibri" pitchFamily="34" charset="-120"/>
              </a:rPr>
              <a:t>Quality control removed far more controls than patients</a:t>
            </a:r>
            <a:endParaRPr lang="en-US" sz="1350" dirty="0"/>
          </a:p>
        </p:txBody>
      </p:sp>
      <p:sp>
        <p:nvSpPr>
          <p:cNvPr id="19" name="Text 17"/>
          <p:cNvSpPr txBox="1"/>
          <p:nvPr/>
        </p:nvSpPr>
        <p:spPr>
          <a:xfrm>
            <a:off x="411480" y="4828032"/>
            <a:ext cx="8321040" cy="201168"/>
          </a:xfrm>
          <a:prstGeom prst="rect">
            <a:avLst/>
          </a:prstGeom>
          <a:noFill/>
          <a:ln/>
        </p:spPr>
        <p:txBody>
          <a:bodyPr wrap="square" lIns="0" tIns="0" rIns="0" bIns="0" rtlCol="0" anchor="ctr"/>
          <a:lstStyle/>
          <a:p>
            <a:pPr indent="0" marL="0">
              <a:buNone/>
            </a:pPr>
            <a:r>
              <a:rPr lang="en-US" sz="900" i="1" dirty="0">
                <a:solidFill>
                  <a:srgbClr val="4E606D"/>
                </a:solidFill>
                <a:latin typeface="Calibri" pitchFamily="34" charset="0"/>
                <a:ea typeface="Calibri" pitchFamily="34" charset="-122"/>
                <a:cs typeface="Calibri" pitchFamily="34" charset="-120"/>
              </a:rPr>
              <a:t>The last point comes from our own parse of the deposited data; the paper does not report that breakdown.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11480" y="128016"/>
            <a:ext cx="8321040" cy="365760"/>
          </a:xfrm>
          <a:prstGeom prst="rect">
            <a:avLst/>
          </a:prstGeom>
          <a:noFill/>
          <a:ln/>
        </p:spPr>
        <p:txBody>
          <a:bodyPr wrap="square" lIns="0" tIns="0" rIns="0" bIns="0" rtlCol="0" anchor="ctr"/>
          <a:lstStyle/>
          <a:p>
            <a:pPr indent="0" marL="0">
              <a:buNone/>
            </a:pPr>
            <a:r>
              <a:rPr lang="en-US" sz="2400" b="1" dirty="0">
                <a:solidFill>
                  <a:srgbClr val="12263A"/>
                </a:solidFill>
                <a:latin typeface="Cambria" pitchFamily="34" charset="0"/>
                <a:ea typeface="Cambria" pitchFamily="34" charset="-122"/>
                <a:cs typeface="Cambria" pitchFamily="34" charset="-120"/>
              </a:rPr>
              <a:t>What our project adds</a:t>
            </a:r>
            <a:endParaRPr lang="en-US" sz="2400" dirty="0"/>
          </a:p>
        </p:txBody>
      </p:sp>
      <p:sp>
        <p:nvSpPr>
          <p:cNvPr id="3" name="Text 1"/>
          <p:cNvSpPr txBox="1"/>
          <p:nvPr/>
        </p:nvSpPr>
        <p:spPr>
          <a:xfrm>
            <a:off x="411480" y="512064"/>
            <a:ext cx="8321040" cy="219456"/>
          </a:xfrm>
          <a:prstGeom prst="rect">
            <a:avLst/>
          </a:prstGeom>
          <a:noFill/>
          <a:ln/>
        </p:spPr>
        <p:txBody>
          <a:bodyPr wrap="square" lIns="0" tIns="0" rIns="0" bIns="0" rtlCol="0" anchor="ctr"/>
          <a:lstStyle/>
          <a:p>
            <a:pPr indent="0" marL="0">
              <a:buNone/>
            </a:pPr>
            <a:r>
              <a:rPr lang="en-US" sz="1100" dirty="0">
                <a:solidFill>
                  <a:srgbClr val="4E606D"/>
                </a:solidFill>
                <a:latin typeface="Calibri" pitchFamily="34" charset="0"/>
                <a:ea typeface="Calibri" pitchFamily="34" charset="-122"/>
                <a:cs typeface="Calibri" pitchFamily="34" charset="-120"/>
              </a:rPr>
              <a:t>Each one answers a criticism from the previous slide.</a:t>
            </a:r>
            <a:endParaRPr lang="en-US" sz="1100" dirty="0"/>
          </a:p>
        </p:txBody>
      </p:sp>
      <p:sp>
        <p:nvSpPr>
          <p:cNvPr id="4" name="Shape 2"/>
          <p:cNvSpPr/>
          <p:nvPr/>
        </p:nvSpPr>
        <p:spPr>
          <a:xfrm>
            <a:off x="411480" y="932688"/>
            <a:ext cx="8321040" cy="640080"/>
          </a:xfrm>
          <a:prstGeom prst="roundRect">
            <a:avLst>
              <a:gd name="adj" fmla="val 5714"/>
            </a:avLst>
          </a:prstGeom>
          <a:solidFill>
            <a:srgbClr val="F2F5F8"/>
          </a:solidFill>
          <a:ln w="9525">
            <a:solidFill>
              <a:srgbClr val="DCE3E9"/>
            </a:solidFill>
            <a:prstDash val="solid"/>
          </a:ln>
        </p:spPr>
      </p:sp>
      <p:sp>
        <p:nvSpPr>
          <p:cNvPr id="5" name="Shape 3"/>
          <p:cNvSpPr/>
          <p:nvPr/>
        </p:nvSpPr>
        <p:spPr>
          <a:xfrm>
            <a:off x="566928" y="1115568"/>
            <a:ext cx="274320" cy="274320"/>
          </a:xfrm>
          <a:prstGeom prst="ellipse">
            <a:avLst/>
          </a:prstGeom>
          <a:solidFill>
            <a:srgbClr val="075B85"/>
          </a:solidFill>
          <a:ln w="12700">
            <a:solidFill>
              <a:srgbClr val="333333"/>
            </a:solidFill>
            <a:prstDash val="solid"/>
          </a:ln>
        </p:spPr>
      </p:sp>
      <p:sp>
        <p:nvSpPr>
          <p:cNvPr id="6" name="Text 4"/>
          <p:cNvSpPr txBox="1"/>
          <p:nvPr/>
        </p:nvSpPr>
        <p:spPr>
          <a:xfrm>
            <a:off x="566928" y="11155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987552" y="1005840"/>
            <a:ext cx="2926080" cy="493776"/>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Bipolar I only</a:t>
            </a:r>
            <a:endParaRPr lang="en-US" sz="1350" dirty="0"/>
          </a:p>
        </p:txBody>
      </p:sp>
      <p:sp>
        <p:nvSpPr>
          <p:cNvPr id="8" name="Text 6"/>
          <p:cNvSpPr txBox="1"/>
          <p:nvPr/>
        </p:nvSpPr>
        <p:spPr>
          <a:xfrm>
            <a:off x="4023360" y="1005840"/>
            <a:ext cx="4572000" cy="49377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everyone shares the diagnosis, so nothing is left to adjust for</a:t>
            </a:r>
            <a:endParaRPr lang="en-US" sz="1150" dirty="0"/>
          </a:p>
        </p:txBody>
      </p:sp>
      <p:sp>
        <p:nvSpPr>
          <p:cNvPr id="9" name="Shape 7"/>
          <p:cNvSpPr/>
          <p:nvPr/>
        </p:nvSpPr>
        <p:spPr>
          <a:xfrm>
            <a:off x="411480" y="1645920"/>
            <a:ext cx="8321040" cy="640080"/>
          </a:xfrm>
          <a:prstGeom prst="roundRect">
            <a:avLst>
              <a:gd name="adj" fmla="val 5714"/>
            </a:avLst>
          </a:prstGeom>
          <a:solidFill>
            <a:srgbClr val="F2F5F8"/>
          </a:solidFill>
          <a:ln w="9525">
            <a:solidFill>
              <a:srgbClr val="DCE3E9"/>
            </a:solidFill>
            <a:prstDash val="solid"/>
          </a:ln>
        </p:spPr>
      </p:sp>
      <p:sp>
        <p:nvSpPr>
          <p:cNvPr id="10" name="Shape 8"/>
          <p:cNvSpPr/>
          <p:nvPr/>
        </p:nvSpPr>
        <p:spPr>
          <a:xfrm>
            <a:off x="566928" y="1828800"/>
            <a:ext cx="274320" cy="274320"/>
          </a:xfrm>
          <a:prstGeom prst="ellipse">
            <a:avLst/>
          </a:prstGeom>
          <a:solidFill>
            <a:srgbClr val="075B85"/>
          </a:solidFill>
          <a:ln w="12700">
            <a:solidFill>
              <a:srgbClr val="333333"/>
            </a:solidFill>
            <a:prstDash val="solid"/>
          </a:ln>
        </p:spPr>
      </p:sp>
      <p:sp>
        <p:nvSpPr>
          <p:cNvPr id="11" name="Text 9"/>
          <p:cNvSpPr txBox="1"/>
          <p:nvPr/>
        </p:nvSpPr>
        <p:spPr>
          <a:xfrm>
            <a:off x="566928" y="18288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987552" y="1719072"/>
            <a:ext cx="2926080" cy="493776"/>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Test against a shuffled baseline</a:t>
            </a:r>
            <a:endParaRPr lang="en-US" sz="1350" dirty="0"/>
          </a:p>
        </p:txBody>
      </p:sp>
      <p:sp>
        <p:nvSpPr>
          <p:cNvPr id="13" name="Text 11"/>
          <p:cNvSpPr txBox="1"/>
          <p:nvPr/>
        </p:nvSpPr>
        <p:spPr>
          <a:xfrm>
            <a:off x="4023360" y="1719072"/>
            <a:ext cx="4572000" cy="49377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instead of one search across 22 cell types</a:t>
            </a:r>
            <a:endParaRPr lang="en-US" sz="1150" dirty="0"/>
          </a:p>
        </p:txBody>
      </p:sp>
      <p:sp>
        <p:nvSpPr>
          <p:cNvPr id="14" name="Shape 12"/>
          <p:cNvSpPr/>
          <p:nvPr/>
        </p:nvSpPr>
        <p:spPr>
          <a:xfrm>
            <a:off x="411480" y="2359152"/>
            <a:ext cx="8321040" cy="640080"/>
          </a:xfrm>
          <a:prstGeom prst="roundRect">
            <a:avLst>
              <a:gd name="adj" fmla="val 5714"/>
            </a:avLst>
          </a:prstGeom>
          <a:solidFill>
            <a:srgbClr val="F2F5F8"/>
          </a:solidFill>
          <a:ln w="9525">
            <a:solidFill>
              <a:srgbClr val="DCE3E9"/>
            </a:solidFill>
            <a:prstDash val="solid"/>
          </a:ln>
        </p:spPr>
      </p:sp>
      <p:sp>
        <p:nvSpPr>
          <p:cNvPr id="15" name="Shape 13"/>
          <p:cNvSpPr/>
          <p:nvPr/>
        </p:nvSpPr>
        <p:spPr>
          <a:xfrm>
            <a:off x="566928" y="2542032"/>
            <a:ext cx="274320" cy="274320"/>
          </a:xfrm>
          <a:prstGeom prst="ellipse">
            <a:avLst/>
          </a:prstGeom>
          <a:solidFill>
            <a:srgbClr val="075B85"/>
          </a:solidFill>
          <a:ln w="12700">
            <a:solidFill>
              <a:srgbClr val="333333"/>
            </a:solidFill>
            <a:prstDash val="solid"/>
          </a:ln>
        </p:spPr>
      </p:sp>
      <p:sp>
        <p:nvSpPr>
          <p:cNvPr id="16" name="Text 14"/>
          <p:cNvSpPr txBox="1"/>
          <p:nvPr/>
        </p:nvSpPr>
        <p:spPr>
          <a:xfrm>
            <a:off x="566928" y="2542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txBox="1"/>
          <p:nvPr/>
        </p:nvSpPr>
        <p:spPr>
          <a:xfrm>
            <a:off x="987552" y="2432304"/>
            <a:ext cx="2926080" cy="493776"/>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Estimate mediation properly</a:t>
            </a:r>
            <a:endParaRPr lang="en-US" sz="1350" dirty="0"/>
          </a:p>
        </p:txBody>
      </p:sp>
      <p:sp>
        <p:nvSpPr>
          <p:cNvPr id="18" name="Text 16"/>
          <p:cNvSpPr txBox="1"/>
          <p:nvPr/>
        </p:nvSpPr>
        <p:spPr>
          <a:xfrm>
            <a:off x="4023360" y="2432304"/>
            <a:ext cx="4572000" cy="49377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a percentage with an error bar, not a gene count</a:t>
            </a:r>
            <a:endParaRPr lang="en-US" sz="1150" dirty="0"/>
          </a:p>
        </p:txBody>
      </p:sp>
      <p:sp>
        <p:nvSpPr>
          <p:cNvPr id="19" name="Shape 17"/>
          <p:cNvSpPr/>
          <p:nvPr/>
        </p:nvSpPr>
        <p:spPr>
          <a:xfrm>
            <a:off x="411480" y="3072384"/>
            <a:ext cx="8321040" cy="640080"/>
          </a:xfrm>
          <a:prstGeom prst="roundRect">
            <a:avLst>
              <a:gd name="adj" fmla="val 5714"/>
            </a:avLst>
          </a:prstGeom>
          <a:solidFill>
            <a:srgbClr val="F2F5F8"/>
          </a:solidFill>
          <a:ln w="9525">
            <a:solidFill>
              <a:srgbClr val="DCE3E9"/>
            </a:solidFill>
            <a:prstDash val="solid"/>
          </a:ln>
        </p:spPr>
      </p:sp>
      <p:sp>
        <p:nvSpPr>
          <p:cNvPr id="20" name="Shape 18"/>
          <p:cNvSpPr/>
          <p:nvPr/>
        </p:nvSpPr>
        <p:spPr>
          <a:xfrm>
            <a:off x="566928" y="3255264"/>
            <a:ext cx="274320" cy="274320"/>
          </a:xfrm>
          <a:prstGeom prst="ellipse">
            <a:avLst/>
          </a:prstGeom>
          <a:solidFill>
            <a:srgbClr val="075B85"/>
          </a:solidFill>
          <a:ln w="12700">
            <a:solidFill>
              <a:srgbClr val="333333"/>
            </a:solidFill>
            <a:prstDash val="solid"/>
          </a:ln>
        </p:spPr>
      </p:sp>
      <p:sp>
        <p:nvSpPr>
          <p:cNvPr id="21" name="Text 19"/>
          <p:cNvSpPr txBox="1"/>
          <p:nvPr/>
        </p:nvSpPr>
        <p:spPr>
          <a:xfrm>
            <a:off x="566928" y="32552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987552" y="3145536"/>
            <a:ext cx="2926080" cy="493776"/>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Correct for the mixture being a guess</a:t>
            </a:r>
            <a:endParaRPr lang="en-US" sz="1350" dirty="0"/>
          </a:p>
        </p:txBody>
      </p:sp>
      <p:sp>
        <p:nvSpPr>
          <p:cNvPr id="23" name="Text 21"/>
          <p:cNvSpPr txBox="1"/>
          <p:nvPr/>
        </p:nvSpPr>
        <p:spPr>
          <a:xfrm>
            <a:off x="4023360" y="3145536"/>
            <a:ext cx="4572000" cy="49377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which turns our number into a defensible floor</a:t>
            </a:r>
            <a:endParaRPr lang="en-US" sz="1150" dirty="0"/>
          </a:p>
        </p:txBody>
      </p:sp>
      <p:sp>
        <p:nvSpPr>
          <p:cNvPr id="24" name="Shape 22"/>
          <p:cNvSpPr/>
          <p:nvPr/>
        </p:nvSpPr>
        <p:spPr>
          <a:xfrm>
            <a:off x="411480" y="3785616"/>
            <a:ext cx="8321040" cy="640080"/>
          </a:xfrm>
          <a:prstGeom prst="roundRect">
            <a:avLst>
              <a:gd name="adj" fmla="val 5714"/>
            </a:avLst>
          </a:prstGeom>
          <a:solidFill>
            <a:srgbClr val="F2F5F8"/>
          </a:solidFill>
          <a:ln w="9525">
            <a:solidFill>
              <a:srgbClr val="DCE3E9"/>
            </a:solidFill>
            <a:prstDash val="solid"/>
          </a:ln>
        </p:spPr>
      </p:sp>
      <p:sp>
        <p:nvSpPr>
          <p:cNvPr id="25" name="Shape 23"/>
          <p:cNvSpPr/>
          <p:nvPr/>
        </p:nvSpPr>
        <p:spPr>
          <a:xfrm>
            <a:off x="566928" y="3968496"/>
            <a:ext cx="274320" cy="274320"/>
          </a:xfrm>
          <a:prstGeom prst="ellipse">
            <a:avLst/>
          </a:prstGeom>
          <a:solidFill>
            <a:srgbClr val="075B85"/>
          </a:solidFill>
          <a:ln w="12700">
            <a:solidFill>
              <a:srgbClr val="333333"/>
            </a:solidFill>
            <a:prstDash val="solid"/>
          </a:ln>
        </p:spPr>
      </p:sp>
      <p:sp>
        <p:nvSpPr>
          <p:cNvPr id="26" name="Text 24"/>
          <p:cNvSpPr txBox="1"/>
          <p:nvPr/>
        </p:nvSpPr>
        <p:spPr>
          <a:xfrm>
            <a:off x="566928" y="39684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txBox="1"/>
          <p:nvPr/>
        </p:nvSpPr>
        <p:spPr>
          <a:xfrm>
            <a:off x="987552" y="3858768"/>
            <a:ext cx="2926080" cy="493776"/>
          </a:xfrm>
          <a:prstGeom prst="rect">
            <a:avLst/>
          </a:prstGeom>
          <a:noFill/>
          <a:ln/>
        </p:spPr>
        <p:txBody>
          <a:bodyPr wrap="square" lIns="0" tIns="0" rIns="0" bIns="0" rtlCol="0" anchor="ctr"/>
          <a:lstStyle/>
          <a:p>
            <a:pPr indent="0" marL="0">
              <a:buNone/>
            </a:pPr>
            <a:r>
              <a:rPr lang="en-US" sz="1350" b="1" dirty="0">
                <a:solidFill>
                  <a:srgbClr val="12263A"/>
                </a:solidFill>
                <a:latin typeface="Calibri" pitchFamily="34" charset="0"/>
                <a:ea typeface="Calibri" pitchFamily="34" charset="-122"/>
                <a:cs typeface="Calibri" pitchFamily="34" charset="-120"/>
              </a:rPr>
              <a:t>Drop the marker genes</a:t>
            </a:r>
            <a:endParaRPr lang="en-US" sz="1350" dirty="0"/>
          </a:p>
        </p:txBody>
      </p:sp>
      <p:sp>
        <p:nvSpPr>
          <p:cNvPr id="28" name="Text 26"/>
          <p:cNvSpPr txBox="1"/>
          <p:nvPr/>
        </p:nvSpPr>
        <p:spPr>
          <a:xfrm>
            <a:off x="4023360" y="3858768"/>
            <a:ext cx="4572000" cy="493776"/>
          </a:xfrm>
          <a:prstGeom prst="rect">
            <a:avLst/>
          </a:prstGeom>
          <a:noFill/>
          <a:ln/>
        </p:spPr>
        <p:txBody>
          <a:bodyPr wrap="square" lIns="0" tIns="0" rIns="0" bIns="0" rtlCol="0" anchor="ctr"/>
          <a:lstStyle/>
          <a:p>
            <a:pPr indent="0" marL="0">
              <a:buNone/>
            </a:pPr>
            <a:r>
              <a:rPr lang="en-US" sz="1150" dirty="0">
                <a:solidFill>
                  <a:srgbClr val="4E606D"/>
                </a:solidFill>
                <a:latin typeface="Calibri" pitchFamily="34" charset="0"/>
                <a:ea typeface="Calibri" pitchFamily="34" charset="-122"/>
                <a:cs typeface="Calibri" pitchFamily="34" charset="-120"/>
              </a:rPr>
              <a:t>so the mixture and the outcome are not built from the same genes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Krebs et al. 2020</dc:title>
  <dc:subject>PptxGenJS Presentation</dc:subject>
  <dc:creator>Ali &amp; Ava</dc:creator>
  <cp:lastModifiedBy>Ali &amp; Ava</cp:lastModifiedBy>
  <cp:revision>1</cp:revision>
  <dcterms:created xsi:type="dcterms:W3CDTF">2026-09-21T01:22:33Z</dcterms:created>
  <dcterms:modified xsi:type="dcterms:W3CDTF">2026-09-21T01:22:33Z</dcterms:modified>
</cp:coreProperties>
</file>